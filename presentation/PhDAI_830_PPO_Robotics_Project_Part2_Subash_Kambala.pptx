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2" r:id="rId23"/>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Hello, my name is Subash Kambala. This presentation is the second part of my reinforcement learning project. I implemented Proximal Policy Optimization, or PPO, for a continuous-control robot-joint reaching task. I will explain the problem, the environment and reward design, the actor-critic implementation, the training results, a short demonstration, and the main limitations and future improvements.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problem is continuous robotic control. At every time step, the agent must choose a real-valued motor torque, and each torque changes the joint's angle and velocity, so every decision affects the ones that follow. This connects directly to my Part 1 objective: use reinforcement learning to move a rotary joint to a target and hold it there. I set three goals: build a reproducible continuous-control environment, implement PPO with an actor-critic network and Generalized Advantage Estimation, and measure learning rigorously, with held-out evaluation, baselines, diagnostics, an ablation study, and a demonstration.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Reinforcement learning is useful in robotics because many control behaviors are difficult to specify as fixed rules. The agent can instead learn from repeated interaction with a simulated environment. PPO was selected because it is a policy-gradient method designed to make policy updates more stable by limiting excessively large changes. The original PPO paper also evaluated the method on simulated robotic locomotion. I also used Generalized Advantage Estimation, which combines reward and value information to reduce variance in policy-gradient estimates. These ideas fit a continuous torque-control problem where both stability and smooth learning are important.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completed environment is a lightweight simulation of one rotary robot joint. At the start of every episode, the joint angle, angular velocity, and target angle are randomized. The agent applies torque between minus two and plus two. The joint dynamics include inertia, damping, and a small gravity term, and each episode lasts at most two hundred steps. This environment follows the Gym-style reset and step interface. The main advantage of this design is that it keeps the continuous-control behavior while making the project easy to reproduce without a large external simulator.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observation has five values: the sine and cosine of the joint angle, the normalized angular velocity, and the sine and cosine of the angle error, which is the difference between the joint and the target. This relative encoding was one of the most important design decisions in the project. In my early version, I gave the target as a raw angle, so the network had to learn wrapped angle subtraction on its own, and it barely beat a random policy. The action is one continuous torque value. The reward is highest near the target, penalizes angle error, velocity, and torque, and adds a bonus for precise, stable reaching, because arriving fast is not the same as stabilizing.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Training follows the standard PPO cycle. The policy collects a rollout of 512 steps, storing observations, actions, rewards, log probabilities, and value estimates. Generalized Advantage Estimation then combines temporal-difference residuals into advantages. One detail matters here: episodes end only because of a 200-step time limit, not because the task failed, so I bootstrap the value of the final state instead of treating it as zero, as Pardo and colleagues recommend. I normalize the advantages, and the PPO update clips the probability ratio to plus or minus zero point two, which keeps each policy change small.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model uses separate actor and critic networks in PyTorch. Both take the same five-dimensional state through two hidden layers of sixty-four tanh units. The actor outputs the mean of a Gaussian distribution, and a learnable log standard deviation controls exploration. During training, actions are sampled and then clipped to the torque range. The critic outputs a single value estimate, which serves as the baseline for computing advantages.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project uses Python, PyTorch, NumPy, Matplotlib, and the Gymnasium interface. The final run trained for 204,800 environment steps, which is exactly 400 updates of 512 steps. The learning rate was three times ten to the minus four, gamma was 0.99, and GAE lambda was 0.95. Each update ran five epochs of 64-sample mini-batches, with gradient clipping at 0.5. I set the entropy coefficient to zero, because the learnable standard deviation already provided enough exploration.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explains how the project evolved. My early version trained for only twenty thousand steps and improved from about 120 to 129, which a t-test showed was not statistically significant. Diagnosing that result led to the fixes on the left, which I made and reported in Part 1: expressing the target relative to the joint, bootstrapping episodes at the time limit, removing a misleading 32-step final batch, and training ten times longer with held-out evaluation. For Part 2, the method and results stayed the same as in my Part 1 report. What Part 2 adds is a reproducible demonstration on held-out episodes, a documented code repository, and this recorded walkthrough, so the results can be verified and seen, not just read.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curve shows return across 1,024 training episodes. The pale line is each episode, which varies because targets and starting angles are random, and the orange line is the 50-episode average. Return rose quickly over the first 200 episodes, improved more slowly afterward, and plateaued around episode 800. Mean return grew from 104.5 in the first 50 episodes to 227.7 in the last 50, and the final angle error dropped from about 1.54 radians to 0.029 radians. These are the same verified results reported in Part 1, and they show the clear convergence that my early version lacked.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diagnostics confirm that training was stable. Value loss fell from about fifty to 0.06, so the critic learned accurate value estimates. The spike from my early version is gone, because it was caused by a 32-step final batch. Entropy decreased steadily from 0.92 to 0.61 as the policy became more confident. The approximate KL divergence stayed below 0.03 on every update, and the clip fraction stayed mostly between two and fifteen percent. That means clipping was active on a small share of samples, keeping updates bounded without stopping learning.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the demonstration. I load the saved final model and use the actor's mean action, with no sampling. These are the first four held-out evaluation episodes, so they are not hand-picked. The orange marker is the target, and the teal bar is the joint. Watch episode two: the joint starts about 2.4 radians away, more than 135 degrees. The policy applies maximum torque, brakes before the target, and settles within about fifty steps, while the plots show the error falling below the success line. All four episodes finish within 0.031 radians. One limitation is visible: a small steady-state offset of about 0.02 radians, because the policy holds a constant torque against gravity.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main strengths are a complete PPO pipeline with diagnostics, one hundred percent held-out success against a four percent random baseline, an ablation that isolates clipping and GAE, and reproducibility through fixed seeds, a saved model, and a demo script anyone can rerun. The limitations matter just as much: the physics are a simplified single joint, there is a small steady-state offset, the main run uses one seed, there is no SAC or DDPG comparison, and I did not test sensor noise or disturbances. So the project validates PPO for this task, but it does not show that PPO is the best algorithm or that it is ready for hardware.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Reinforcement learning for physical robots raises safety and accountability concerns. A policy that behaves acceptably in simulation can fail when sensors, friction, loads, or timing differ in the real world. For that reason, a learned controller should not be transferred directly to safety-critical hardware without constraints, staged testing, emergency-stop mechanisms, and human oversight. Reward design also matters because an agent can optimize the numeric objective in an unintended way. In a real deployment, safety limits should have priority over reward maximization, and evaluation should include failure cases rather than only successful trajectories.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conclusion, PPO learned accurate and stable reaching, with 0.021 radians of final error and one hundred percent success on held-out episodes. My biggest lesson was that state representation mattered more than any hyperparameter: the same algorithm went from near-random to reliable once the target was expressed relative to the joint. The ablation confirmed that clipping and GAE both contributed to stability, and fixing the truncation and batch issues made the diagnostics trustworthy. Next, I would run multiple seeds with confidence intervals, test noise and disturbances, compare PPO with SAC or DDPG, and move to multi-joint arms in MuJoCo or PyBullet.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My main references are the PPO and GAE papers by Schulman and colleagues, the robotics survey by Kober, Bagnell, and Peters, and Pardo and colleagues on time limits. For AI disclosure, I used ChatGPT to help organize the project and review concepts, and Claude to review my code and results, which helped identify the issues I fixed, and to help build the evaluation, ablation, and demo scripts and update these slides. I reviewed all of the code, reran the training, and verified every number in this presentation. Thank you.</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test performance properly, I evaluated the deterministic policy on fifty held-out episodes with seeds never used in training. PPO reached the target in all fifty, compared with four percent for random torque and two percent for applying no torque. The ablation, run with three seeds per variant, shows how PPO's components contribute. Removing clipping made updates about thirty times larger, one seed collapsed early, and success fell to about fifty-three percent. For GAE, lambda equal to zero relied on the early, inaccurate critic and never learned reliable reaching, while lambda 0.95 gave the best combination of return and stability.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EA5A4"/>
          </a:solidFill>
          <a:ln w="12700">
            <a:solidFill>
              <a:srgbClr val="0EA5A4"/>
            </a:solidFill>
            <a:prstDash val="solid"/>
          </a:ln>
        </p:spPr>
      </p:sp>
      <p:sp>
        <p:nvSpPr>
          <p:cNvPr id="3" name="Text 1"/>
          <p:cNvSpPr/>
          <p:nvPr/>
        </p:nvSpPr>
        <p:spPr>
          <a:xfrm>
            <a:off x="502920" y="6510528"/>
            <a:ext cx="4114800" cy="182880"/>
          </a:xfrm>
          <a:prstGeom prst="rect">
            <a:avLst/>
          </a:prstGeom>
          <a:noFill/>
          <a:ln/>
        </p:spPr>
        <p:txBody>
          <a:bodyPr wrap="square" lIns="0" tIns="0" rIns="0" bIns="0" rtlCol="0" anchor="ctr"/>
          <a:lstStyle/>
          <a:p>
            <a:pPr indent="0" marL="0">
              <a:buNone/>
            </a:pPr>
            <a:r>
              <a:rPr lang="en-US" sz="900" dirty="0">
                <a:solidFill>
                  <a:srgbClr val="64748B"/>
                </a:solidFill>
                <a:latin typeface="Aptos" pitchFamily="34" charset="0"/>
                <a:ea typeface="Aptos" pitchFamily="34" charset="-122"/>
                <a:cs typeface="Aptos" pitchFamily="34" charset="-120"/>
              </a:rPr>
              <a:t>PhDAI-830 • RL Project Part 2</a:t>
            </a:r>
            <a:endParaRPr lang="en-US" sz="900" dirty="0"/>
          </a:p>
        </p:txBody>
      </p:sp>
      <p:sp>
        <p:nvSpPr>
          <p:cNvPr id="4" name="Text 2"/>
          <p:cNvSpPr/>
          <p:nvPr/>
        </p:nvSpPr>
        <p:spPr>
          <a:xfrm>
            <a:off x="9418320" y="6510528"/>
            <a:ext cx="2194560" cy="182880"/>
          </a:xfrm>
          <a:prstGeom prst="rect">
            <a:avLst/>
          </a:prstGeom>
          <a:noFill/>
          <a:ln/>
        </p:spPr>
        <p:txBody>
          <a:bodyPr wrap="square" lIns="0" tIns="0" rIns="0" bIns="0" rtlCol="0" anchor="ctr"/>
          <a:lstStyle/>
          <a:p>
            <a:pPr algn="r" indent="0" marL="0">
              <a:buNone/>
            </a:pPr>
            <a:r>
              <a:rPr lang="en-US" sz="900" dirty="0">
                <a:solidFill>
                  <a:srgbClr val="64748B"/>
                </a:solidFill>
                <a:latin typeface="Aptos" pitchFamily="34" charset="0"/>
                <a:ea typeface="Aptos" pitchFamily="34" charset="-122"/>
                <a:cs typeface="Aptos" pitchFamily="34" charset="-120"/>
              </a:rPr>
              <a:t>Subash Kambala</a:t>
            </a:r>
            <a:endParaRPr lang="en-US" sz="90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3.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video" Target="../media/media-12-2.mp4"/><Relationship Id="rId3" Type="http://schemas.microsoft.com/office/2007/relationships/media" Target="../media/media-12-2.mp4"/><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0" y="0"/>
            <a:ext cx="182880" cy="6858000"/>
          </a:xfrm>
          <a:prstGeom prst="rect">
            <a:avLst/>
          </a:prstGeom>
          <a:solidFill>
            <a:srgbClr val="0EA5A4"/>
          </a:solidFill>
          <a:ln w="12700">
            <a:solidFill>
              <a:srgbClr val="0EA5A4"/>
            </a:solidFill>
            <a:prstDash val="solid"/>
          </a:ln>
        </p:spPr>
      </p:sp>
      <p:sp>
        <p:nvSpPr>
          <p:cNvPr id="4" name="Shape 2"/>
          <p:cNvSpPr/>
          <p:nvPr/>
        </p:nvSpPr>
        <p:spPr>
          <a:xfrm>
            <a:off x="713232" y="658368"/>
            <a:ext cx="1920240" cy="301752"/>
          </a:xfrm>
          <a:prstGeom prst="roundRect">
            <a:avLst>
              <a:gd name="adj" fmla="val 24242"/>
            </a:avLst>
          </a:prstGeom>
          <a:solidFill>
            <a:srgbClr val="CCFBF1"/>
          </a:solidFill>
          <a:ln w="12700">
            <a:solidFill>
              <a:srgbClr val="CCFBF1"/>
            </a:solidFill>
            <a:prstDash val="solid"/>
          </a:ln>
        </p:spPr>
      </p:sp>
      <p:sp>
        <p:nvSpPr>
          <p:cNvPr id="5" name="Text 3"/>
          <p:cNvSpPr/>
          <p:nvPr/>
        </p:nvSpPr>
        <p:spPr>
          <a:xfrm>
            <a:off x="786384" y="708660"/>
            <a:ext cx="1773936" cy="173736"/>
          </a:xfrm>
          <a:prstGeom prst="rect">
            <a:avLst/>
          </a:prstGeom>
          <a:noFill/>
          <a:ln/>
        </p:spPr>
        <p:txBody>
          <a:bodyPr wrap="square" lIns="0" tIns="0" rIns="0" bIns="0" rtlCol="0" anchor="ctr"/>
          <a:lstStyle/>
          <a:p>
            <a:pPr algn="ctr" indent="0" marL="0">
              <a:buNone/>
            </a:pPr>
            <a:r>
              <a:rPr lang="en-US" sz="1050" b="1" dirty="0">
                <a:solidFill>
                  <a:srgbClr val="115E59"/>
                </a:solidFill>
              </a:rPr>
              <a:t>Project Part 2 • 13–15 min</a:t>
            </a:r>
            <a:endParaRPr lang="en-US" sz="1050" dirty="0"/>
          </a:p>
        </p:txBody>
      </p:sp>
      <p:sp>
        <p:nvSpPr>
          <p:cNvPr id="6" name="Text 4"/>
          <p:cNvSpPr/>
          <p:nvPr/>
        </p:nvSpPr>
        <p:spPr>
          <a:xfrm>
            <a:off x="713232" y="1325880"/>
            <a:ext cx="6583680" cy="960120"/>
          </a:xfrm>
          <a:prstGeom prst="rect">
            <a:avLst/>
          </a:prstGeom>
          <a:noFill/>
          <a:ln/>
        </p:spPr>
        <p:txBody>
          <a:bodyPr wrap="square" lIns="0" tIns="0" rIns="0" bIns="0" rtlCol="0" anchor="ctr">
            <a:normAutofit/>
          </a:bodyPr>
          <a:lstStyle/>
          <a:p>
            <a:pPr indent="0" marL="0">
              <a:buNone/>
            </a:pPr>
            <a:r>
              <a:rPr lang="en-US" sz="3400" b="1" dirty="0">
                <a:solidFill>
                  <a:srgbClr val="0F172A"/>
                </a:solidFill>
                <a:latin typeface="Aptos Display" pitchFamily="34" charset="0"/>
                <a:ea typeface="Aptos Display" pitchFamily="34" charset="-122"/>
                <a:cs typeface="Aptos Display" pitchFamily="34" charset="-120"/>
              </a:rPr>
              <a:t>PPO for Continuous-Control Robotics</a:t>
            </a:r>
            <a:endParaRPr lang="en-US" sz="3400" dirty="0"/>
          </a:p>
        </p:txBody>
      </p:sp>
      <p:sp>
        <p:nvSpPr>
          <p:cNvPr id="7" name="Text 5"/>
          <p:cNvSpPr/>
          <p:nvPr/>
        </p:nvSpPr>
        <p:spPr>
          <a:xfrm>
            <a:off x="731520" y="2395728"/>
            <a:ext cx="6035040" cy="475488"/>
          </a:xfrm>
          <a:prstGeom prst="rect">
            <a:avLst/>
          </a:prstGeom>
          <a:noFill/>
          <a:ln/>
        </p:spPr>
        <p:txBody>
          <a:bodyPr wrap="square" lIns="0" tIns="0" rIns="0" bIns="0" rtlCol="0" anchor="ctr"/>
          <a:lstStyle/>
          <a:p>
            <a:pPr indent="0" marL="0">
              <a:buNone/>
            </a:pPr>
            <a:r>
              <a:rPr lang="en-US" sz="1800" dirty="0">
                <a:solidFill>
                  <a:srgbClr val="334155"/>
                </a:solidFill>
              </a:rPr>
              <a:t>Robot Joint Reaching with Proximal Policy Optimization</a:t>
            </a:r>
            <a:endParaRPr lang="en-US" sz="1800" dirty="0"/>
          </a:p>
        </p:txBody>
      </p:sp>
      <p:sp>
        <p:nvSpPr>
          <p:cNvPr id="8" name="Text 6"/>
          <p:cNvSpPr/>
          <p:nvPr/>
        </p:nvSpPr>
        <p:spPr>
          <a:xfrm>
            <a:off x="731520" y="4389120"/>
            <a:ext cx="6309360" cy="960120"/>
          </a:xfrm>
          <a:prstGeom prst="rect">
            <a:avLst/>
          </a:prstGeom>
          <a:noFill/>
          <a:ln/>
        </p:spPr>
        <p:txBody>
          <a:bodyPr wrap="square" lIns="254" tIns="254" rIns="254" bIns="254" rtlCol="0" anchor="ctr"/>
          <a:lstStyle/>
          <a:p>
            <a:pPr indent="0" marL="0">
              <a:buNone/>
            </a:pPr>
            <a:r>
              <a:rPr lang="en-US" sz="1400" dirty="0">
                <a:solidFill>
                  <a:srgbClr val="64748B"/>
                </a:solidFill>
              </a:rPr>
              <a:t>Subash Kambala  •  Student ID 005059675</a:t>
            </a:r>
            <a:endParaRPr lang="en-US" sz="1400" dirty="0"/>
          </a:p>
          <a:p>
            <a:pPr indent="0" marL="0">
              <a:buNone/>
            </a:pPr>
            <a:r>
              <a:rPr lang="en-US" sz="1400" dirty="0">
                <a:solidFill>
                  <a:srgbClr val="64748B"/>
                </a:solidFill>
              </a:rPr>
              <a:t>Applied Machine Intelligence and Reinforcement Learning (PhDAI-830-A02)</a:t>
            </a:r>
            <a:endParaRPr lang="en-US" sz="1400" dirty="0"/>
          </a:p>
          <a:p>
            <a:pPr indent="0" marL="0">
              <a:buNone/>
            </a:pPr>
            <a:r>
              <a:rPr lang="en-US" sz="1400" dirty="0">
                <a:solidFill>
                  <a:srgbClr val="64748B"/>
                </a:solidFill>
              </a:rPr>
              <a:t>University of the Cumberlands  •  October 2026</a:t>
            </a:r>
            <a:endParaRPr lang="en-US" sz="1400" dirty="0"/>
          </a:p>
        </p:txBody>
      </p:sp>
      <p:sp>
        <p:nvSpPr>
          <p:cNvPr id="9" name="Shape 7"/>
          <p:cNvSpPr/>
          <p:nvPr/>
        </p:nvSpPr>
        <p:spPr>
          <a:xfrm>
            <a:off x="8275320" y="2011680"/>
            <a:ext cx="960120" cy="960120"/>
          </a:xfrm>
          <a:prstGeom prst="ellipse">
            <a:avLst/>
          </a:prstGeom>
          <a:solidFill>
            <a:srgbClr val="0F172A"/>
          </a:solidFill>
          <a:ln w="12700">
            <a:solidFill>
              <a:srgbClr val="0F172A"/>
            </a:solidFill>
            <a:prstDash val="solid"/>
          </a:ln>
        </p:spPr>
      </p:sp>
      <p:sp>
        <p:nvSpPr>
          <p:cNvPr id="10" name="Shape 8"/>
          <p:cNvSpPr/>
          <p:nvPr/>
        </p:nvSpPr>
        <p:spPr>
          <a:xfrm>
            <a:off x="8759952" y="2496312"/>
            <a:ext cx="1920240" cy="-1005840"/>
          </a:xfrm>
          <a:prstGeom prst="line">
            <a:avLst/>
          </a:prstGeom>
          <a:noFill/>
          <a:ln w="152400">
            <a:solidFill>
              <a:srgbClr val="0EA5A4"/>
            </a:solidFill>
            <a:prstDash val="solid"/>
            <a:headEnd type="none"/>
            <a:tailEnd type="none"/>
          </a:ln>
        </p:spPr>
      </p:sp>
      <p:sp>
        <p:nvSpPr>
          <p:cNvPr id="11" name="Shape 9"/>
          <p:cNvSpPr/>
          <p:nvPr/>
        </p:nvSpPr>
        <p:spPr>
          <a:xfrm>
            <a:off x="10442448" y="1243584"/>
            <a:ext cx="502920" cy="502920"/>
          </a:xfrm>
          <a:prstGeom prst="ellipse">
            <a:avLst/>
          </a:prstGeom>
          <a:solidFill>
            <a:srgbClr val="F59E0B"/>
          </a:solidFill>
          <a:ln w="12700">
            <a:solidFill>
              <a:srgbClr val="F59E0B"/>
            </a:solidFill>
            <a:prstDash val="solid"/>
          </a:ln>
        </p:spPr>
      </p:sp>
      <p:sp>
        <p:nvSpPr>
          <p:cNvPr id="12" name="Shape 10"/>
          <p:cNvSpPr/>
          <p:nvPr/>
        </p:nvSpPr>
        <p:spPr>
          <a:xfrm rot="1200000">
            <a:off x="7680960" y="1143000"/>
            <a:ext cx="3566160" cy="3566160"/>
          </a:xfrm>
          <a:prstGeom prst="arc">
            <a:avLst/>
          </a:prstGeom>
          <a:solidFill>
            <a:srgbClr val="F8FAFC">
              <a:alpha val="0"/>
            </a:srgbClr>
          </a:solidFill>
          <a:ln w="25400">
            <a:solidFill>
              <a:srgbClr val="CBD5E1"/>
            </a:solidFill>
            <a:prstDash val="solid"/>
          </a:ln>
        </p:spPr>
      </p:sp>
      <p:sp>
        <p:nvSpPr>
          <p:cNvPr id="13" name="Text 11"/>
          <p:cNvSpPr/>
          <p:nvPr/>
        </p:nvSpPr>
        <p:spPr>
          <a:xfrm>
            <a:off x="7818120" y="4251960"/>
            <a:ext cx="3108960" cy="320040"/>
          </a:xfrm>
          <a:prstGeom prst="rect">
            <a:avLst/>
          </a:prstGeom>
          <a:noFill/>
          <a:ln/>
        </p:spPr>
        <p:txBody>
          <a:bodyPr wrap="square" lIns="0" tIns="0" rIns="0" bIns="0" rtlCol="0" anchor="ctr"/>
          <a:lstStyle/>
          <a:p>
            <a:pPr algn="ctr" indent="0" marL="0">
              <a:buNone/>
            </a:pPr>
            <a:r>
              <a:rPr lang="en-US" sz="1400" b="1" dirty="0">
                <a:solidFill>
                  <a:srgbClr val="0EA5A4"/>
                </a:solidFill>
              </a:rPr>
              <a:t>continuous torque</a:t>
            </a:r>
            <a:endParaRPr lang="en-US" sz="1400" dirty="0"/>
          </a:p>
        </p:txBody>
      </p:sp>
      <p:sp>
        <p:nvSpPr>
          <p:cNvPr id="14" name="Text 12"/>
          <p:cNvSpPr/>
          <p:nvPr/>
        </p:nvSpPr>
        <p:spPr>
          <a:xfrm>
            <a:off x="7498080" y="4663440"/>
            <a:ext cx="3840480" cy="320040"/>
          </a:xfrm>
          <a:prstGeom prst="rect">
            <a:avLst/>
          </a:prstGeom>
          <a:noFill/>
          <a:ln/>
        </p:spPr>
        <p:txBody>
          <a:bodyPr wrap="square" lIns="0" tIns="0" rIns="0" bIns="0" rtlCol="0" anchor="ctr"/>
          <a:lstStyle/>
          <a:p>
            <a:pPr algn="ctr" indent="0" marL="0">
              <a:buNone/>
            </a:pPr>
            <a:r>
              <a:rPr lang="en-US" sz="1250" dirty="0">
                <a:solidFill>
                  <a:srgbClr val="64748B"/>
                </a:solidFill>
              </a:rPr>
              <a:t>state → action → reward → update</a:t>
            </a:r>
            <a:endParaRPr lang="en-US" sz="125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8138160" cy="411480"/>
          </a:xfrm>
          <a:prstGeom prst="rect">
            <a:avLst/>
          </a:prstGeom>
          <a:noFill/>
          <a:ln/>
        </p:spPr>
        <p:txBody>
          <a:bodyPr wrap="square" lIns="0" tIns="0" rIns="0" bIns="0" rtlCol="0" anchor="ctr"/>
          <a:lstStyle/>
          <a:p>
            <a:pPr indent="0" marL="0">
              <a:buNone/>
            </a:pPr>
            <a:r>
              <a:rPr lang="en-US" sz="2600" b="1" dirty="0">
                <a:solidFill>
                  <a:srgbClr val="0F172A"/>
                </a:solidFill>
                <a:latin typeface="Aptos Display" pitchFamily="34" charset="0"/>
                <a:ea typeface="Aptos Display" pitchFamily="34" charset="-122"/>
                <a:cs typeface="Aptos Display" pitchFamily="34" charset="-120"/>
              </a:rPr>
              <a:t>Problem and Project Goals</a:t>
            </a:r>
            <a:endParaRPr lang="en-US" sz="2600" dirty="0"/>
          </a:p>
        </p:txBody>
      </p:sp>
      <p:sp>
        <p:nvSpPr>
          <p:cNvPr id="3" name="Text 1"/>
          <p:cNvSpPr/>
          <p:nvPr/>
        </p:nvSpPr>
        <p:spPr>
          <a:xfrm>
            <a:off x="585216" y="822960"/>
            <a:ext cx="9875520" cy="274320"/>
          </a:xfrm>
          <a:prstGeom prst="rect">
            <a:avLst/>
          </a:prstGeom>
          <a:noFill/>
          <a:ln/>
        </p:spPr>
        <p:txBody>
          <a:bodyPr wrap="square" lIns="0" tIns="0" rIns="0" bIns="0" rtlCol="0" anchor="ctr"/>
          <a:lstStyle/>
          <a:p>
            <a:pPr indent="0" marL="0">
              <a:buNone/>
            </a:pPr>
            <a:r>
              <a:rPr lang="en-US" sz="1250" dirty="0">
                <a:solidFill>
                  <a:srgbClr val="64748B"/>
                </a:solidFill>
              </a:rPr>
              <a:t>Learning real-valued torque decisions over time</a:t>
            </a:r>
            <a:endParaRPr lang="en-US" sz="1250" dirty="0"/>
          </a:p>
        </p:txBody>
      </p:sp>
      <p:sp>
        <p:nvSpPr>
          <p:cNvPr id="4" name="Shape 2"/>
          <p:cNvSpPr/>
          <p:nvPr/>
        </p:nvSpPr>
        <p:spPr>
          <a:xfrm>
            <a:off x="658368" y="1508760"/>
            <a:ext cx="1874520" cy="960120"/>
          </a:xfrm>
          <a:prstGeom prst="roundRect">
            <a:avLst>
              <a:gd name="adj" fmla="val 4762"/>
            </a:avLst>
          </a:prstGeom>
          <a:solidFill>
            <a:srgbClr val="CCFBF1"/>
          </a:solidFill>
          <a:ln w="17780">
            <a:solidFill>
              <a:srgbClr val="0EA5A4"/>
            </a:solidFill>
            <a:prstDash val="solid"/>
          </a:ln>
        </p:spPr>
      </p:sp>
      <p:sp>
        <p:nvSpPr>
          <p:cNvPr id="5" name="Text 3"/>
          <p:cNvSpPr/>
          <p:nvPr/>
        </p:nvSpPr>
        <p:spPr>
          <a:xfrm>
            <a:off x="768096" y="1700784"/>
            <a:ext cx="1645920" cy="219456"/>
          </a:xfrm>
          <a:prstGeom prst="rect">
            <a:avLst/>
          </a:prstGeom>
          <a:noFill/>
          <a:ln/>
        </p:spPr>
        <p:txBody>
          <a:bodyPr wrap="square" lIns="0" tIns="0" rIns="0" bIns="0" rtlCol="0" anchor="ctr"/>
          <a:lstStyle/>
          <a:p>
            <a:pPr algn="ctr" indent="0" marL="0">
              <a:buNone/>
            </a:pPr>
            <a:r>
              <a:rPr lang="en-US" sz="1600" b="1" dirty="0">
                <a:solidFill>
                  <a:srgbClr val="0F172A"/>
                </a:solidFill>
              </a:rPr>
              <a:t>Observe</a:t>
            </a:r>
            <a:endParaRPr lang="en-US" sz="1600" dirty="0"/>
          </a:p>
        </p:txBody>
      </p:sp>
      <p:sp>
        <p:nvSpPr>
          <p:cNvPr id="6" name="Text 4"/>
          <p:cNvSpPr/>
          <p:nvPr/>
        </p:nvSpPr>
        <p:spPr>
          <a:xfrm>
            <a:off x="749808" y="1993392"/>
            <a:ext cx="1691640" cy="256032"/>
          </a:xfrm>
          <a:prstGeom prst="rect">
            <a:avLst/>
          </a:prstGeom>
          <a:noFill/>
          <a:ln/>
        </p:spPr>
        <p:txBody>
          <a:bodyPr wrap="square" lIns="0" tIns="0" rIns="0" bIns="0" rtlCol="0" anchor="ctr"/>
          <a:lstStyle/>
          <a:p>
            <a:pPr algn="ctr" indent="0" marL="0">
              <a:buNone/>
            </a:pPr>
            <a:r>
              <a:rPr lang="en-US" sz="980" dirty="0">
                <a:solidFill>
                  <a:srgbClr val="64748B"/>
                </a:solidFill>
              </a:rPr>
              <a:t>angle • velocity • angle error</a:t>
            </a:r>
            <a:endParaRPr lang="en-US" sz="980" dirty="0"/>
          </a:p>
        </p:txBody>
      </p:sp>
      <p:sp>
        <p:nvSpPr>
          <p:cNvPr id="7" name="Shape 5"/>
          <p:cNvSpPr/>
          <p:nvPr/>
        </p:nvSpPr>
        <p:spPr>
          <a:xfrm>
            <a:off x="2532888" y="1984248"/>
            <a:ext cx="228600" cy="0"/>
          </a:xfrm>
          <a:prstGeom prst="line">
            <a:avLst/>
          </a:prstGeom>
          <a:noFill/>
          <a:ln w="25400">
            <a:solidFill>
              <a:srgbClr val="64748B"/>
            </a:solidFill>
            <a:prstDash val="solid"/>
            <a:headEnd type="none"/>
            <a:tailEnd type="triangle"/>
          </a:ln>
        </p:spPr>
      </p:sp>
      <p:sp>
        <p:nvSpPr>
          <p:cNvPr id="8" name="Shape 6"/>
          <p:cNvSpPr/>
          <p:nvPr/>
        </p:nvSpPr>
        <p:spPr>
          <a:xfrm>
            <a:off x="2834640" y="1508760"/>
            <a:ext cx="1874520" cy="960120"/>
          </a:xfrm>
          <a:prstGeom prst="roundRect">
            <a:avLst>
              <a:gd name="adj" fmla="val 4762"/>
            </a:avLst>
          </a:prstGeom>
          <a:solidFill>
            <a:srgbClr val="DBEAFE"/>
          </a:solidFill>
          <a:ln w="17780">
            <a:solidFill>
              <a:srgbClr val="2563EB"/>
            </a:solidFill>
            <a:prstDash val="solid"/>
          </a:ln>
        </p:spPr>
      </p:sp>
      <p:sp>
        <p:nvSpPr>
          <p:cNvPr id="9" name="Text 7"/>
          <p:cNvSpPr/>
          <p:nvPr/>
        </p:nvSpPr>
        <p:spPr>
          <a:xfrm>
            <a:off x="2944368" y="1700784"/>
            <a:ext cx="1645920" cy="219456"/>
          </a:xfrm>
          <a:prstGeom prst="rect">
            <a:avLst/>
          </a:prstGeom>
          <a:noFill/>
          <a:ln/>
        </p:spPr>
        <p:txBody>
          <a:bodyPr wrap="square" lIns="0" tIns="0" rIns="0" bIns="0" rtlCol="0" anchor="ctr"/>
          <a:lstStyle/>
          <a:p>
            <a:pPr algn="ctr" indent="0" marL="0">
              <a:buNone/>
            </a:pPr>
            <a:r>
              <a:rPr lang="en-US" sz="1600" b="1" dirty="0">
                <a:solidFill>
                  <a:srgbClr val="0F172A"/>
                </a:solidFill>
              </a:rPr>
              <a:t>Act</a:t>
            </a:r>
            <a:endParaRPr lang="en-US" sz="1600" dirty="0"/>
          </a:p>
        </p:txBody>
      </p:sp>
      <p:sp>
        <p:nvSpPr>
          <p:cNvPr id="10" name="Text 8"/>
          <p:cNvSpPr/>
          <p:nvPr/>
        </p:nvSpPr>
        <p:spPr>
          <a:xfrm>
            <a:off x="2926080" y="1993392"/>
            <a:ext cx="1691640" cy="256032"/>
          </a:xfrm>
          <a:prstGeom prst="rect">
            <a:avLst/>
          </a:prstGeom>
          <a:noFill/>
          <a:ln/>
        </p:spPr>
        <p:txBody>
          <a:bodyPr wrap="square" lIns="0" tIns="0" rIns="0" bIns="0" rtlCol="0" anchor="ctr"/>
          <a:lstStyle/>
          <a:p>
            <a:pPr algn="ctr" indent="0" marL="0">
              <a:buNone/>
            </a:pPr>
            <a:r>
              <a:rPr lang="en-US" sz="980" dirty="0">
                <a:solidFill>
                  <a:srgbClr val="64748B"/>
                </a:solidFill>
              </a:rPr>
              <a:t>continuous motor torque</a:t>
            </a:r>
            <a:endParaRPr lang="en-US" sz="980" dirty="0"/>
          </a:p>
        </p:txBody>
      </p:sp>
      <p:sp>
        <p:nvSpPr>
          <p:cNvPr id="11" name="Shape 9"/>
          <p:cNvSpPr/>
          <p:nvPr/>
        </p:nvSpPr>
        <p:spPr>
          <a:xfrm>
            <a:off x="4709160" y="1984248"/>
            <a:ext cx="292608" cy="0"/>
          </a:xfrm>
          <a:prstGeom prst="line">
            <a:avLst/>
          </a:prstGeom>
          <a:noFill/>
          <a:ln w="25400">
            <a:solidFill>
              <a:srgbClr val="64748B"/>
            </a:solidFill>
            <a:prstDash val="solid"/>
            <a:headEnd type="none"/>
            <a:tailEnd type="triangle"/>
          </a:ln>
        </p:spPr>
      </p:sp>
      <p:sp>
        <p:nvSpPr>
          <p:cNvPr id="12" name="Shape 10"/>
          <p:cNvSpPr/>
          <p:nvPr/>
        </p:nvSpPr>
        <p:spPr>
          <a:xfrm>
            <a:off x="5074920" y="1508760"/>
            <a:ext cx="1874520" cy="960120"/>
          </a:xfrm>
          <a:prstGeom prst="roundRect">
            <a:avLst>
              <a:gd name="adj" fmla="val 4762"/>
            </a:avLst>
          </a:prstGeom>
          <a:solidFill>
            <a:srgbClr val="CCFBF1"/>
          </a:solidFill>
          <a:ln w="17780">
            <a:solidFill>
              <a:srgbClr val="0EA5A4"/>
            </a:solidFill>
            <a:prstDash val="solid"/>
          </a:ln>
        </p:spPr>
      </p:sp>
      <p:sp>
        <p:nvSpPr>
          <p:cNvPr id="13" name="Text 11"/>
          <p:cNvSpPr/>
          <p:nvPr/>
        </p:nvSpPr>
        <p:spPr>
          <a:xfrm>
            <a:off x="5184648" y="1700784"/>
            <a:ext cx="1645920" cy="219456"/>
          </a:xfrm>
          <a:prstGeom prst="rect">
            <a:avLst/>
          </a:prstGeom>
          <a:noFill/>
          <a:ln/>
        </p:spPr>
        <p:txBody>
          <a:bodyPr wrap="square" lIns="0" tIns="0" rIns="0" bIns="0" rtlCol="0" anchor="ctr"/>
          <a:lstStyle/>
          <a:p>
            <a:pPr algn="ctr" indent="0" marL="0">
              <a:buNone/>
            </a:pPr>
            <a:r>
              <a:rPr lang="en-US" sz="1600" b="1" dirty="0">
                <a:solidFill>
                  <a:srgbClr val="0F172A"/>
                </a:solidFill>
              </a:rPr>
              <a:t>Dynamics</a:t>
            </a:r>
            <a:endParaRPr lang="en-US" sz="1600" dirty="0"/>
          </a:p>
        </p:txBody>
      </p:sp>
      <p:sp>
        <p:nvSpPr>
          <p:cNvPr id="14" name="Text 12"/>
          <p:cNvSpPr/>
          <p:nvPr/>
        </p:nvSpPr>
        <p:spPr>
          <a:xfrm>
            <a:off x="5166360" y="1993392"/>
            <a:ext cx="1691640" cy="256032"/>
          </a:xfrm>
          <a:prstGeom prst="rect">
            <a:avLst/>
          </a:prstGeom>
          <a:noFill/>
          <a:ln/>
        </p:spPr>
        <p:txBody>
          <a:bodyPr wrap="square" lIns="0" tIns="0" rIns="0" bIns="0" rtlCol="0" anchor="ctr"/>
          <a:lstStyle/>
          <a:p>
            <a:pPr algn="ctr" indent="0" marL="0">
              <a:buNone/>
            </a:pPr>
            <a:r>
              <a:rPr lang="en-US" sz="980" dirty="0">
                <a:solidFill>
                  <a:srgbClr val="64748B"/>
                </a:solidFill>
              </a:rPr>
              <a:t>joint moves + slows</a:t>
            </a:r>
            <a:endParaRPr lang="en-US" sz="980" dirty="0"/>
          </a:p>
        </p:txBody>
      </p:sp>
      <p:sp>
        <p:nvSpPr>
          <p:cNvPr id="15" name="Shape 13"/>
          <p:cNvSpPr/>
          <p:nvPr/>
        </p:nvSpPr>
        <p:spPr>
          <a:xfrm>
            <a:off x="6949440" y="1984248"/>
            <a:ext cx="292608" cy="0"/>
          </a:xfrm>
          <a:prstGeom prst="line">
            <a:avLst/>
          </a:prstGeom>
          <a:noFill/>
          <a:ln w="25400">
            <a:solidFill>
              <a:srgbClr val="64748B"/>
            </a:solidFill>
            <a:prstDash val="solid"/>
            <a:headEnd type="none"/>
            <a:tailEnd type="triangle"/>
          </a:ln>
        </p:spPr>
      </p:sp>
      <p:sp>
        <p:nvSpPr>
          <p:cNvPr id="16" name="Shape 14"/>
          <p:cNvSpPr/>
          <p:nvPr/>
        </p:nvSpPr>
        <p:spPr>
          <a:xfrm>
            <a:off x="7315200" y="1508760"/>
            <a:ext cx="1874520" cy="960120"/>
          </a:xfrm>
          <a:prstGeom prst="roundRect">
            <a:avLst>
              <a:gd name="adj" fmla="val 4762"/>
            </a:avLst>
          </a:prstGeom>
          <a:solidFill>
            <a:srgbClr val="DBEAFE"/>
          </a:solidFill>
          <a:ln w="17780">
            <a:solidFill>
              <a:srgbClr val="2563EB"/>
            </a:solidFill>
            <a:prstDash val="solid"/>
          </a:ln>
        </p:spPr>
      </p:sp>
      <p:sp>
        <p:nvSpPr>
          <p:cNvPr id="17" name="Text 15"/>
          <p:cNvSpPr/>
          <p:nvPr/>
        </p:nvSpPr>
        <p:spPr>
          <a:xfrm>
            <a:off x="7424928" y="1700784"/>
            <a:ext cx="1645920" cy="219456"/>
          </a:xfrm>
          <a:prstGeom prst="rect">
            <a:avLst/>
          </a:prstGeom>
          <a:noFill/>
          <a:ln/>
        </p:spPr>
        <p:txBody>
          <a:bodyPr wrap="square" lIns="0" tIns="0" rIns="0" bIns="0" rtlCol="0" anchor="ctr"/>
          <a:lstStyle/>
          <a:p>
            <a:pPr algn="ctr" indent="0" marL="0">
              <a:buNone/>
            </a:pPr>
            <a:r>
              <a:rPr lang="en-US" sz="1600" b="1" dirty="0">
                <a:solidFill>
                  <a:srgbClr val="0F172A"/>
                </a:solidFill>
              </a:rPr>
              <a:t>Reward</a:t>
            </a:r>
            <a:endParaRPr lang="en-US" sz="1600" dirty="0"/>
          </a:p>
        </p:txBody>
      </p:sp>
      <p:sp>
        <p:nvSpPr>
          <p:cNvPr id="18" name="Text 16"/>
          <p:cNvSpPr/>
          <p:nvPr/>
        </p:nvSpPr>
        <p:spPr>
          <a:xfrm>
            <a:off x="7406640" y="1993392"/>
            <a:ext cx="1691640" cy="256032"/>
          </a:xfrm>
          <a:prstGeom prst="rect">
            <a:avLst/>
          </a:prstGeom>
          <a:noFill/>
          <a:ln/>
        </p:spPr>
        <p:txBody>
          <a:bodyPr wrap="square" lIns="0" tIns="0" rIns="0" bIns="0" rtlCol="0" anchor="ctr"/>
          <a:lstStyle/>
          <a:p>
            <a:pPr algn="ctr" indent="0" marL="0">
              <a:buNone/>
            </a:pPr>
            <a:r>
              <a:rPr lang="en-US" sz="980" dirty="0">
                <a:solidFill>
                  <a:srgbClr val="64748B"/>
                </a:solidFill>
              </a:rPr>
              <a:t>accuracy • stability • effort</a:t>
            </a:r>
            <a:endParaRPr lang="en-US" sz="980" dirty="0"/>
          </a:p>
        </p:txBody>
      </p:sp>
      <p:sp>
        <p:nvSpPr>
          <p:cNvPr id="19" name="Shape 17"/>
          <p:cNvSpPr/>
          <p:nvPr/>
        </p:nvSpPr>
        <p:spPr>
          <a:xfrm>
            <a:off x="9189720" y="1984248"/>
            <a:ext cx="292608" cy="0"/>
          </a:xfrm>
          <a:prstGeom prst="line">
            <a:avLst/>
          </a:prstGeom>
          <a:noFill/>
          <a:ln w="25400">
            <a:solidFill>
              <a:srgbClr val="64748B"/>
            </a:solidFill>
            <a:prstDash val="solid"/>
            <a:headEnd type="none"/>
            <a:tailEnd type="triangle"/>
          </a:ln>
        </p:spPr>
      </p:sp>
      <p:sp>
        <p:nvSpPr>
          <p:cNvPr id="20" name="Shape 18"/>
          <p:cNvSpPr/>
          <p:nvPr/>
        </p:nvSpPr>
        <p:spPr>
          <a:xfrm>
            <a:off x="9555480" y="1508760"/>
            <a:ext cx="1874520" cy="960120"/>
          </a:xfrm>
          <a:prstGeom prst="roundRect">
            <a:avLst>
              <a:gd name="adj" fmla="val 4762"/>
            </a:avLst>
          </a:prstGeom>
          <a:solidFill>
            <a:srgbClr val="CCFBF1"/>
          </a:solidFill>
          <a:ln w="17780">
            <a:solidFill>
              <a:srgbClr val="0EA5A4"/>
            </a:solidFill>
            <a:prstDash val="solid"/>
          </a:ln>
        </p:spPr>
      </p:sp>
      <p:sp>
        <p:nvSpPr>
          <p:cNvPr id="21" name="Text 19"/>
          <p:cNvSpPr/>
          <p:nvPr/>
        </p:nvSpPr>
        <p:spPr>
          <a:xfrm>
            <a:off x="9665208" y="1700784"/>
            <a:ext cx="1645920" cy="219456"/>
          </a:xfrm>
          <a:prstGeom prst="rect">
            <a:avLst/>
          </a:prstGeom>
          <a:noFill/>
          <a:ln/>
        </p:spPr>
        <p:txBody>
          <a:bodyPr wrap="square" lIns="0" tIns="0" rIns="0" bIns="0" rtlCol="0" anchor="ctr"/>
          <a:lstStyle/>
          <a:p>
            <a:pPr algn="ctr" indent="0" marL="0">
              <a:buNone/>
            </a:pPr>
            <a:r>
              <a:rPr lang="en-US" sz="1600" b="1" dirty="0">
                <a:solidFill>
                  <a:srgbClr val="0F172A"/>
                </a:solidFill>
              </a:rPr>
              <a:t>Learn</a:t>
            </a:r>
            <a:endParaRPr lang="en-US" sz="1600" dirty="0"/>
          </a:p>
        </p:txBody>
      </p:sp>
      <p:sp>
        <p:nvSpPr>
          <p:cNvPr id="22" name="Text 20"/>
          <p:cNvSpPr/>
          <p:nvPr/>
        </p:nvSpPr>
        <p:spPr>
          <a:xfrm>
            <a:off x="9646920" y="1993392"/>
            <a:ext cx="1691640" cy="256032"/>
          </a:xfrm>
          <a:prstGeom prst="rect">
            <a:avLst/>
          </a:prstGeom>
          <a:noFill/>
          <a:ln/>
        </p:spPr>
        <p:txBody>
          <a:bodyPr wrap="square" lIns="0" tIns="0" rIns="0" bIns="0" rtlCol="0" anchor="ctr"/>
          <a:lstStyle/>
          <a:p>
            <a:pPr algn="ctr" indent="0" marL="0">
              <a:buNone/>
            </a:pPr>
            <a:r>
              <a:rPr lang="en-US" sz="980" dirty="0">
                <a:solidFill>
                  <a:srgbClr val="64748B"/>
                </a:solidFill>
              </a:rPr>
              <a:t>update PPO policy</a:t>
            </a:r>
            <a:endParaRPr lang="en-US" sz="980" dirty="0"/>
          </a:p>
        </p:txBody>
      </p:sp>
      <p:sp>
        <p:nvSpPr>
          <p:cNvPr id="23" name="Shape 21"/>
          <p:cNvSpPr/>
          <p:nvPr/>
        </p:nvSpPr>
        <p:spPr>
          <a:xfrm>
            <a:off x="777240" y="3154680"/>
            <a:ext cx="3337560" cy="1965960"/>
          </a:xfrm>
          <a:prstGeom prst="roundRect">
            <a:avLst>
              <a:gd name="adj" fmla="val 3256"/>
            </a:avLst>
          </a:prstGeom>
          <a:solidFill>
            <a:srgbClr val="FFFFFF"/>
          </a:solidFill>
          <a:ln w="12700">
            <a:solidFill>
              <a:srgbClr val="E2E8F0"/>
            </a:solidFill>
            <a:prstDash val="solid"/>
          </a:ln>
        </p:spPr>
      </p:sp>
      <p:sp>
        <p:nvSpPr>
          <p:cNvPr id="24" name="Shape 22"/>
          <p:cNvSpPr/>
          <p:nvPr/>
        </p:nvSpPr>
        <p:spPr>
          <a:xfrm>
            <a:off x="777240" y="3154680"/>
            <a:ext cx="73152" cy="1965960"/>
          </a:xfrm>
          <a:prstGeom prst="rect">
            <a:avLst/>
          </a:prstGeom>
          <a:solidFill>
            <a:srgbClr val="0EA5A4"/>
          </a:solidFill>
          <a:ln w="12700">
            <a:solidFill>
              <a:srgbClr val="0EA5A4"/>
            </a:solidFill>
            <a:prstDash val="solid"/>
          </a:ln>
        </p:spPr>
      </p:sp>
      <p:sp>
        <p:nvSpPr>
          <p:cNvPr id="25" name="Text 23"/>
          <p:cNvSpPr/>
          <p:nvPr/>
        </p:nvSpPr>
        <p:spPr>
          <a:xfrm>
            <a:off x="978408" y="3319272"/>
            <a:ext cx="3026664" cy="274320"/>
          </a:xfrm>
          <a:prstGeom prst="rect">
            <a:avLst/>
          </a:prstGeom>
          <a:noFill/>
          <a:ln/>
        </p:spPr>
        <p:txBody>
          <a:bodyPr wrap="square" lIns="0" tIns="0" rIns="0" bIns="0" rtlCol="0" anchor="ctr"/>
          <a:lstStyle/>
          <a:p>
            <a:pPr indent="0" marL="0">
              <a:buNone/>
            </a:pPr>
            <a:r>
              <a:rPr lang="en-US" sz="1600" b="1" dirty="0">
                <a:solidFill>
                  <a:srgbClr val="0F172A"/>
                </a:solidFill>
              </a:rPr>
              <a:t>Goal 1</a:t>
            </a:r>
            <a:endParaRPr lang="en-US" sz="1600" dirty="0"/>
          </a:p>
        </p:txBody>
      </p:sp>
      <p:sp>
        <p:nvSpPr>
          <p:cNvPr id="26" name="Text 24"/>
          <p:cNvSpPr/>
          <p:nvPr/>
        </p:nvSpPr>
        <p:spPr>
          <a:xfrm>
            <a:off x="978408" y="3685032"/>
            <a:ext cx="2990088" cy="130759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Create a reproducible continuous-control environment with randomized start and target conditions.</a:t>
            </a:r>
            <a:endParaRPr lang="en-US" sz="1200" dirty="0"/>
          </a:p>
        </p:txBody>
      </p:sp>
      <p:sp>
        <p:nvSpPr>
          <p:cNvPr id="27" name="Shape 25"/>
          <p:cNvSpPr/>
          <p:nvPr/>
        </p:nvSpPr>
        <p:spPr>
          <a:xfrm>
            <a:off x="4434840" y="3154680"/>
            <a:ext cx="3337560" cy="1965960"/>
          </a:xfrm>
          <a:prstGeom prst="roundRect">
            <a:avLst>
              <a:gd name="adj" fmla="val 3256"/>
            </a:avLst>
          </a:prstGeom>
          <a:solidFill>
            <a:srgbClr val="FFFFFF"/>
          </a:solidFill>
          <a:ln w="12700">
            <a:solidFill>
              <a:srgbClr val="E2E8F0"/>
            </a:solidFill>
            <a:prstDash val="solid"/>
          </a:ln>
        </p:spPr>
      </p:sp>
      <p:sp>
        <p:nvSpPr>
          <p:cNvPr id="28" name="Shape 26"/>
          <p:cNvSpPr/>
          <p:nvPr/>
        </p:nvSpPr>
        <p:spPr>
          <a:xfrm>
            <a:off x="4434840" y="3154680"/>
            <a:ext cx="73152" cy="1965960"/>
          </a:xfrm>
          <a:prstGeom prst="rect">
            <a:avLst/>
          </a:prstGeom>
          <a:solidFill>
            <a:srgbClr val="2563EB"/>
          </a:solidFill>
          <a:ln w="12700">
            <a:solidFill>
              <a:srgbClr val="2563EB"/>
            </a:solidFill>
            <a:prstDash val="solid"/>
          </a:ln>
        </p:spPr>
      </p:sp>
      <p:sp>
        <p:nvSpPr>
          <p:cNvPr id="29" name="Text 27"/>
          <p:cNvSpPr/>
          <p:nvPr/>
        </p:nvSpPr>
        <p:spPr>
          <a:xfrm>
            <a:off x="4636008" y="3319272"/>
            <a:ext cx="3026664" cy="274320"/>
          </a:xfrm>
          <a:prstGeom prst="rect">
            <a:avLst/>
          </a:prstGeom>
          <a:noFill/>
          <a:ln/>
        </p:spPr>
        <p:txBody>
          <a:bodyPr wrap="square" lIns="0" tIns="0" rIns="0" bIns="0" rtlCol="0" anchor="ctr"/>
          <a:lstStyle/>
          <a:p>
            <a:pPr indent="0" marL="0">
              <a:buNone/>
            </a:pPr>
            <a:r>
              <a:rPr lang="en-US" sz="1600" b="1" dirty="0">
                <a:solidFill>
                  <a:srgbClr val="0F172A"/>
                </a:solidFill>
              </a:rPr>
              <a:t>Goal 2</a:t>
            </a:r>
            <a:endParaRPr lang="en-US" sz="1600" dirty="0"/>
          </a:p>
        </p:txBody>
      </p:sp>
      <p:sp>
        <p:nvSpPr>
          <p:cNvPr id="30" name="Text 28"/>
          <p:cNvSpPr/>
          <p:nvPr/>
        </p:nvSpPr>
        <p:spPr>
          <a:xfrm>
            <a:off x="4636008" y="3685032"/>
            <a:ext cx="2990088" cy="130759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Implement PPO with actor-critic learning, clipped updates, GAE, and stochastic Gaussian actions.</a:t>
            </a:r>
            <a:endParaRPr lang="en-US" sz="1200" dirty="0"/>
          </a:p>
        </p:txBody>
      </p:sp>
      <p:sp>
        <p:nvSpPr>
          <p:cNvPr id="31" name="Shape 29"/>
          <p:cNvSpPr/>
          <p:nvPr/>
        </p:nvSpPr>
        <p:spPr>
          <a:xfrm>
            <a:off x="8092440" y="3154680"/>
            <a:ext cx="3337560" cy="1965960"/>
          </a:xfrm>
          <a:prstGeom prst="roundRect">
            <a:avLst>
              <a:gd name="adj" fmla="val 3256"/>
            </a:avLst>
          </a:prstGeom>
          <a:solidFill>
            <a:srgbClr val="FFFFFF"/>
          </a:solidFill>
          <a:ln w="12700">
            <a:solidFill>
              <a:srgbClr val="E2E8F0"/>
            </a:solidFill>
            <a:prstDash val="solid"/>
          </a:ln>
        </p:spPr>
      </p:sp>
      <p:sp>
        <p:nvSpPr>
          <p:cNvPr id="32" name="Shape 30"/>
          <p:cNvSpPr/>
          <p:nvPr/>
        </p:nvSpPr>
        <p:spPr>
          <a:xfrm>
            <a:off x="8092440" y="3154680"/>
            <a:ext cx="73152" cy="1965960"/>
          </a:xfrm>
          <a:prstGeom prst="rect">
            <a:avLst/>
          </a:prstGeom>
          <a:solidFill>
            <a:srgbClr val="F59E0B"/>
          </a:solidFill>
          <a:ln w="12700">
            <a:solidFill>
              <a:srgbClr val="F59E0B"/>
            </a:solidFill>
            <a:prstDash val="solid"/>
          </a:ln>
        </p:spPr>
      </p:sp>
      <p:sp>
        <p:nvSpPr>
          <p:cNvPr id="33" name="Text 31"/>
          <p:cNvSpPr/>
          <p:nvPr/>
        </p:nvSpPr>
        <p:spPr>
          <a:xfrm>
            <a:off x="8293608" y="3319272"/>
            <a:ext cx="3026664" cy="274320"/>
          </a:xfrm>
          <a:prstGeom prst="rect">
            <a:avLst/>
          </a:prstGeom>
          <a:noFill/>
          <a:ln/>
        </p:spPr>
        <p:txBody>
          <a:bodyPr wrap="square" lIns="0" tIns="0" rIns="0" bIns="0" rtlCol="0" anchor="ctr"/>
          <a:lstStyle/>
          <a:p>
            <a:pPr indent="0" marL="0">
              <a:buNone/>
            </a:pPr>
            <a:r>
              <a:rPr lang="en-US" sz="1600" b="1" dirty="0">
                <a:solidFill>
                  <a:srgbClr val="0F172A"/>
                </a:solidFill>
              </a:rPr>
              <a:t>Goal 3</a:t>
            </a:r>
            <a:endParaRPr lang="en-US" sz="1600" dirty="0"/>
          </a:p>
        </p:txBody>
      </p:sp>
      <p:sp>
        <p:nvSpPr>
          <p:cNvPr id="34" name="Text 32"/>
          <p:cNvSpPr/>
          <p:nvPr/>
        </p:nvSpPr>
        <p:spPr>
          <a:xfrm>
            <a:off x="8293608" y="3685032"/>
            <a:ext cx="2990088" cy="130759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Measure learning with held-out evaluation, baselines, diagnostics, a 3-seed ablation, and a demo.</a:t>
            </a:r>
            <a:endParaRPr lang="en-US" sz="120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8138160" cy="411480"/>
          </a:xfrm>
          <a:prstGeom prst="rect">
            <a:avLst/>
          </a:prstGeom>
          <a:noFill/>
          <a:ln/>
        </p:spPr>
        <p:txBody>
          <a:bodyPr wrap="square" lIns="0" tIns="0" rIns="0" bIns="0" rtlCol="0" anchor="ctr"/>
          <a:lstStyle/>
          <a:p>
            <a:pPr indent="0" marL="0">
              <a:buNone/>
            </a:pPr>
            <a:r>
              <a:rPr lang="en-US" sz="2600" b="1" dirty="0">
                <a:solidFill>
                  <a:srgbClr val="0F172A"/>
                </a:solidFill>
                <a:latin typeface="Aptos Display" pitchFamily="34" charset="0"/>
                <a:ea typeface="Aptos Display" pitchFamily="34" charset="-122"/>
                <a:cs typeface="Aptos Display" pitchFamily="34" charset="-120"/>
              </a:rPr>
              <a:t>Background and Project Context</a:t>
            </a:r>
            <a:endParaRPr lang="en-US" sz="2600" dirty="0"/>
          </a:p>
        </p:txBody>
      </p:sp>
      <p:sp>
        <p:nvSpPr>
          <p:cNvPr id="3" name="Text 1"/>
          <p:cNvSpPr/>
          <p:nvPr/>
        </p:nvSpPr>
        <p:spPr>
          <a:xfrm>
            <a:off x="585216" y="822960"/>
            <a:ext cx="9875520" cy="274320"/>
          </a:xfrm>
          <a:prstGeom prst="rect">
            <a:avLst/>
          </a:prstGeom>
          <a:noFill/>
          <a:ln/>
        </p:spPr>
        <p:txBody>
          <a:bodyPr wrap="square" lIns="0" tIns="0" rIns="0" bIns="0" rtlCol="0" anchor="ctr"/>
          <a:lstStyle/>
          <a:p>
            <a:pPr indent="0" marL="0">
              <a:buNone/>
            </a:pPr>
            <a:r>
              <a:rPr lang="en-US" sz="1250" dirty="0">
                <a:solidFill>
                  <a:srgbClr val="64748B"/>
                </a:solidFill>
              </a:rPr>
              <a:t>Why PPO is a reasonable fit for continuous robot control</a:t>
            </a:r>
            <a:endParaRPr lang="en-US" sz="1250" dirty="0"/>
          </a:p>
        </p:txBody>
      </p:sp>
      <p:sp>
        <p:nvSpPr>
          <p:cNvPr id="4" name="Shape 2"/>
          <p:cNvSpPr/>
          <p:nvPr/>
        </p:nvSpPr>
        <p:spPr>
          <a:xfrm>
            <a:off x="777240" y="1325880"/>
            <a:ext cx="3337560" cy="3246120"/>
          </a:xfrm>
          <a:prstGeom prst="roundRect">
            <a:avLst>
              <a:gd name="adj" fmla="val 1972"/>
            </a:avLst>
          </a:prstGeom>
          <a:solidFill>
            <a:srgbClr val="FFFFFF"/>
          </a:solidFill>
          <a:ln w="12700">
            <a:solidFill>
              <a:srgbClr val="E2E8F0"/>
            </a:solidFill>
            <a:prstDash val="solid"/>
          </a:ln>
        </p:spPr>
      </p:sp>
      <p:sp>
        <p:nvSpPr>
          <p:cNvPr id="5" name="Shape 3"/>
          <p:cNvSpPr/>
          <p:nvPr/>
        </p:nvSpPr>
        <p:spPr>
          <a:xfrm>
            <a:off x="777240" y="1325880"/>
            <a:ext cx="73152" cy="3246120"/>
          </a:xfrm>
          <a:prstGeom prst="rect">
            <a:avLst/>
          </a:prstGeom>
          <a:solidFill>
            <a:srgbClr val="0EA5A4"/>
          </a:solidFill>
          <a:ln w="12700">
            <a:solidFill>
              <a:srgbClr val="0EA5A4"/>
            </a:solidFill>
            <a:prstDash val="solid"/>
          </a:ln>
        </p:spPr>
      </p:sp>
      <p:sp>
        <p:nvSpPr>
          <p:cNvPr id="6" name="Text 4"/>
          <p:cNvSpPr/>
          <p:nvPr/>
        </p:nvSpPr>
        <p:spPr>
          <a:xfrm>
            <a:off x="978408" y="1490472"/>
            <a:ext cx="3026664" cy="274320"/>
          </a:xfrm>
          <a:prstGeom prst="rect">
            <a:avLst/>
          </a:prstGeom>
          <a:noFill/>
          <a:ln/>
        </p:spPr>
        <p:txBody>
          <a:bodyPr wrap="square" lIns="0" tIns="0" rIns="0" bIns="0" rtlCol="0" anchor="ctr"/>
          <a:lstStyle/>
          <a:p>
            <a:pPr indent="0" marL="0">
              <a:buNone/>
            </a:pPr>
            <a:r>
              <a:rPr lang="en-US" sz="1600" b="1" dirty="0">
                <a:solidFill>
                  <a:srgbClr val="0F172A"/>
                </a:solidFill>
              </a:rPr>
              <a:t>RL in Robotics</a:t>
            </a:r>
            <a:endParaRPr lang="en-US" sz="1600" dirty="0"/>
          </a:p>
        </p:txBody>
      </p:sp>
      <p:sp>
        <p:nvSpPr>
          <p:cNvPr id="7" name="Text 5"/>
          <p:cNvSpPr/>
          <p:nvPr/>
        </p:nvSpPr>
        <p:spPr>
          <a:xfrm>
            <a:off x="978408" y="1856232"/>
            <a:ext cx="2990088" cy="258775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Robotic behavior is sequential: each action changes the physical state that the next action must control. RL can learn behaviors that are difficult to hand-code.</a:t>
            </a:r>
            <a:endParaRPr lang="en-US" sz="1200" dirty="0"/>
          </a:p>
        </p:txBody>
      </p:sp>
      <p:sp>
        <p:nvSpPr>
          <p:cNvPr id="8" name="Shape 6"/>
          <p:cNvSpPr/>
          <p:nvPr/>
        </p:nvSpPr>
        <p:spPr>
          <a:xfrm>
            <a:off x="4434840" y="1325880"/>
            <a:ext cx="3337560" cy="3246120"/>
          </a:xfrm>
          <a:prstGeom prst="roundRect">
            <a:avLst>
              <a:gd name="adj" fmla="val 1972"/>
            </a:avLst>
          </a:prstGeom>
          <a:solidFill>
            <a:srgbClr val="FFFFFF"/>
          </a:solidFill>
          <a:ln w="12700">
            <a:solidFill>
              <a:srgbClr val="E2E8F0"/>
            </a:solidFill>
            <a:prstDash val="solid"/>
          </a:ln>
        </p:spPr>
      </p:sp>
      <p:sp>
        <p:nvSpPr>
          <p:cNvPr id="9" name="Shape 7"/>
          <p:cNvSpPr/>
          <p:nvPr/>
        </p:nvSpPr>
        <p:spPr>
          <a:xfrm>
            <a:off x="4434840" y="1325880"/>
            <a:ext cx="73152" cy="3246120"/>
          </a:xfrm>
          <a:prstGeom prst="rect">
            <a:avLst/>
          </a:prstGeom>
          <a:solidFill>
            <a:srgbClr val="2563EB"/>
          </a:solidFill>
          <a:ln w="12700">
            <a:solidFill>
              <a:srgbClr val="2563EB"/>
            </a:solidFill>
            <a:prstDash val="solid"/>
          </a:ln>
        </p:spPr>
      </p:sp>
      <p:sp>
        <p:nvSpPr>
          <p:cNvPr id="10" name="Text 8"/>
          <p:cNvSpPr/>
          <p:nvPr/>
        </p:nvSpPr>
        <p:spPr>
          <a:xfrm>
            <a:off x="4636008" y="1490472"/>
            <a:ext cx="3026664" cy="274320"/>
          </a:xfrm>
          <a:prstGeom prst="rect">
            <a:avLst/>
          </a:prstGeom>
          <a:noFill/>
          <a:ln/>
        </p:spPr>
        <p:txBody>
          <a:bodyPr wrap="square" lIns="0" tIns="0" rIns="0" bIns="0" rtlCol="0" anchor="ctr"/>
          <a:lstStyle/>
          <a:p>
            <a:pPr indent="0" marL="0">
              <a:buNone/>
            </a:pPr>
            <a:r>
              <a:rPr lang="en-US" sz="1600" b="1" dirty="0">
                <a:solidFill>
                  <a:srgbClr val="0F172A"/>
                </a:solidFill>
              </a:rPr>
              <a:t>Actor–Critic</a:t>
            </a:r>
            <a:endParaRPr lang="en-US" sz="1600" dirty="0"/>
          </a:p>
        </p:txBody>
      </p:sp>
      <p:sp>
        <p:nvSpPr>
          <p:cNvPr id="11" name="Text 9"/>
          <p:cNvSpPr/>
          <p:nvPr/>
        </p:nvSpPr>
        <p:spPr>
          <a:xfrm>
            <a:off x="4636008" y="1856232"/>
            <a:ext cx="2990088" cy="258775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The actor learns the control policy; the critic estimates state value and provides a lower-variance learning signal for the policy update.</a:t>
            </a:r>
            <a:endParaRPr lang="en-US" sz="1200" dirty="0"/>
          </a:p>
        </p:txBody>
      </p:sp>
      <p:sp>
        <p:nvSpPr>
          <p:cNvPr id="12" name="Shape 10"/>
          <p:cNvSpPr/>
          <p:nvPr/>
        </p:nvSpPr>
        <p:spPr>
          <a:xfrm>
            <a:off x="8092440" y="1325880"/>
            <a:ext cx="3337560" cy="3246120"/>
          </a:xfrm>
          <a:prstGeom prst="roundRect">
            <a:avLst>
              <a:gd name="adj" fmla="val 1972"/>
            </a:avLst>
          </a:prstGeom>
          <a:solidFill>
            <a:srgbClr val="FFFFFF"/>
          </a:solidFill>
          <a:ln w="12700">
            <a:solidFill>
              <a:srgbClr val="E2E8F0"/>
            </a:solidFill>
            <a:prstDash val="solid"/>
          </a:ln>
        </p:spPr>
      </p:sp>
      <p:sp>
        <p:nvSpPr>
          <p:cNvPr id="13" name="Shape 11"/>
          <p:cNvSpPr/>
          <p:nvPr/>
        </p:nvSpPr>
        <p:spPr>
          <a:xfrm>
            <a:off x="8092440" y="1325880"/>
            <a:ext cx="73152" cy="3246120"/>
          </a:xfrm>
          <a:prstGeom prst="rect">
            <a:avLst/>
          </a:prstGeom>
          <a:solidFill>
            <a:srgbClr val="F59E0B"/>
          </a:solidFill>
          <a:ln w="12700">
            <a:solidFill>
              <a:srgbClr val="F59E0B"/>
            </a:solidFill>
            <a:prstDash val="solid"/>
          </a:ln>
        </p:spPr>
      </p:sp>
      <p:sp>
        <p:nvSpPr>
          <p:cNvPr id="14" name="Text 12"/>
          <p:cNvSpPr/>
          <p:nvPr/>
        </p:nvSpPr>
        <p:spPr>
          <a:xfrm>
            <a:off x="8293608" y="1490472"/>
            <a:ext cx="3026664" cy="274320"/>
          </a:xfrm>
          <a:prstGeom prst="rect">
            <a:avLst/>
          </a:prstGeom>
          <a:noFill/>
          <a:ln/>
        </p:spPr>
        <p:txBody>
          <a:bodyPr wrap="square" lIns="0" tIns="0" rIns="0" bIns="0" rtlCol="0" anchor="ctr"/>
          <a:lstStyle/>
          <a:p>
            <a:pPr indent="0" marL="0">
              <a:buNone/>
            </a:pPr>
            <a:r>
              <a:rPr lang="en-US" sz="1600" b="1" dirty="0">
                <a:solidFill>
                  <a:srgbClr val="0F172A"/>
                </a:solidFill>
              </a:rPr>
              <a:t>PPO + GAE</a:t>
            </a:r>
            <a:endParaRPr lang="en-US" sz="1600" dirty="0"/>
          </a:p>
        </p:txBody>
      </p:sp>
      <p:sp>
        <p:nvSpPr>
          <p:cNvPr id="15" name="Text 13"/>
          <p:cNvSpPr/>
          <p:nvPr/>
        </p:nvSpPr>
        <p:spPr>
          <a:xfrm>
            <a:off x="8293608" y="1856232"/>
            <a:ext cx="2990088" cy="258775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PPO limits overly large policy updates. GAE smooths advantage estimates by combining multi-step reward and value information.</a:t>
            </a:r>
            <a:endParaRPr lang="en-US" sz="1200" dirty="0"/>
          </a:p>
        </p:txBody>
      </p:sp>
      <p:sp>
        <p:nvSpPr>
          <p:cNvPr id="16" name="Shape 14"/>
          <p:cNvSpPr/>
          <p:nvPr/>
        </p:nvSpPr>
        <p:spPr>
          <a:xfrm>
            <a:off x="1280160" y="4983480"/>
            <a:ext cx="9692640" cy="640080"/>
          </a:xfrm>
          <a:prstGeom prst="roundRect">
            <a:avLst>
              <a:gd name="adj" fmla="val 7143"/>
            </a:avLst>
          </a:prstGeom>
          <a:solidFill>
            <a:srgbClr val="F1F5F9"/>
          </a:solidFill>
          <a:ln w="12700">
            <a:solidFill>
              <a:srgbClr val="E2E8F0"/>
            </a:solidFill>
            <a:prstDash val="solid"/>
          </a:ln>
        </p:spPr>
      </p:sp>
      <p:sp>
        <p:nvSpPr>
          <p:cNvPr id="17" name="Text 15"/>
          <p:cNvSpPr/>
          <p:nvPr/>
        </p:nvSpPr>
        <p:spPr>
          <a:xfrm>
            <a:off x="1508760" y="5175504"/>
            <a:ext cx="9235440" cy="228600"/>
          </a:xfrm>
          <a:prstGeom prst="rect">
            <a:avLst/>
          </a:prstGeom>
          <a:noFill/>
          <a:ln/>
        </p:spPr>
        <p:txBody>
          <a:bodyPr wrap="square" lIns="0" tIns="0" rIns="0" bIns="0" rtlCol="0" anchor="ctr"/>
          <a:lstStyle/>
          <a:p>
            <a:pPr algn="ctr" indent="0" marL="0">
              <a:buNone/>
            </a:pPr>
            <a:r>
              <a:rPr lang="en-US" sz="1500" b="1" dirty="0">
                <a:solidFill>
                  <a:srgbClr val="0F172A"/>
                </a:solidFill>
              </a:rPr>
              <a:t>Design principle: stable policy improvement is more important than aggressive one-step optimization.</a:t>
            </a:r>
            <a:endParaRPr lang="en-US" sz="1500" dirty="0"/>
          </a:p>
        </p:txBody>
      </p:sp>
      <p:sp>
        <p:nvSpPr>
          <p:cNvPr id="18" name="Text 16"/>
          <p:cNvSpPr/>
          <p:nvPr/>
        </p:nvSpPr>
        <p:spPr>
          <a:xfrm>
            <a:off x="594360" y="6181344"/>
            <a:ext cx="10972800" cy="201168"/>
          </a:xfrm>
          <a:prstGeom prst="rect">
            <a:avLst/>
          </a:prstGeom>
          <a:noFill/>
          <a:ln/>
        </p:spPr>
        <p:txBody>
          <a:bodyPr wrap="square" lIns="0" tIns="0" rIns="0" bIns="0" rtlCol="0" anchor="ctr"/>
          <a:lstStyle/>
          <a:p>
            <a:pPr indent="0" marL="0">
              <a:buNone/>
            </a:pPr>
            <a:r>
              <a:rPr lang="en-US" sz="850" i="1" dirty="0">
                <a:solidFill>
                  <a:srgbClr val="64748B"/>
                </a:solidFill>
              </a:rPr>
              <a:t>Sources: Schulman et al. (2017); Schulman et al. (2015); Kober, Bagnell, &amp; Peters (2013).</a:t>
            </a:r>
            <a:endParaRPr lang="en-US" sz="85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8138160" cy="411480"/>
          </a:xfrm>
          <a:prstGeom prst="rect">
            <a:avLst/>
          </a:prstGeom>
          <a:noFill/>
          <a:ln/>
        </p:spPr>
        <p:txBody>
          <a:bodyPr wrap="square" lIns="0" tIns="0" rIns="0" bIns="0" rtlCol="0" anchor="ctr"/>
          <a:lstStyle/>
          <a:p>
            <a:pPr indent="0" marL="0">
              <a:buNone/>
            </a:pPr>
            <a:r>
              <a:rPr lang="en-US" sz="2600" b="1" dirty="0">
                <a:solidFill>
                  <a:srgbClr val="0F172A"/>
                </a:solidFill>
                <a:latin typeface="Aptos Display" pitchFamily="34" charset="0"/>
                <a:ea typeface="Aptos Display" pitchFamily="34" charset="-122"/>
                <a:cs typeface="Aptos Display" pitchFamily="34" charset="-120"/>
              </a:rPr>
              <a:t>Continuous Robot-Joint Environment</a:t>
            </a:r>
            <a:endParaRPr lang="en-US" sz="2600" dirty="0"/>
          </a:p>
        </p:txBody>
      </p:sp>
      <p:sp>
        <p:nvSpPr>
          <p:cNvPr id="3" name="Text 1"/>
          <p:cNvSpPr/>
          <p:nvPr/>
        </p:nvSpPr>
        <p:spPr>
          <a:xfrm>
            <a:off x="585216" y="822960"/>
            <a:ext cx="9875520" cy="274320"/>
          </a:xfrm>
          <a:prstGeom prst="rect">
            <a:avLst/>
          </a:prstGeom>
          <a:noFill/>
          <a:ln/>
        </p:spPr>
        <p:txBody>
          <a:bodyPr wrap="square" lIns="0" tIns="0" rIns="0" bIns="0" rtlCol="0" anchor="ctr"/>
          <a:lstStyle/>
          <a:p>
            <a:pPr indent="0" marL="0">
              <a:buNone/>
            </a:pPr>
            <a:r>
              <a:rPr lang="en-US" sz="1250" dirty="0">
                <a:solidFill>
                  <a:srgbClr val="64748B"/>
                </a:solidFill>
              </a:rPr>
              <a:t>A lightweight Gym-style simulator with bounded torque</a:t>
            </a:r>
            <a:endParaRPr lang="en-US" sz="1250" dirty="0"/>
          </a:p>
        </p:txBody>
      </p:sp>
      <p:sp>
        <p:nvSpPr>
          <p:cNvPr id="4" name="Shape 2"/>
          <p:cNvSpPr/>
          <p:nvPr/>
        </p:nvSpPr>
        <p:spPr>
          <a:xfrm>
            <a:off x="685800" y="1234440"/>
            <a:ext cx="5029200" cy="4480560"/>
          </a:xfrm>
          <a:prstGeom prst="roundRect">
            <a:avLst>
              <a:gd name="adj" fmla="val 1020"/>
            </a:avLst>
          </a:prstGeom>
          <a:solidFill>
            <a:srgbClr val="FFFFFF"/>
          </a:solidFill>
          <a:ln w="12700">
            <a:solidFill>
              <a:srgbClr val="E2E8F0"/>
            </a:solidFill>
            <a:prstDash val="solid"/>
          </a:ln>
        </p:spPr>
      </p:sp>
      <p:sp>
        <p:nvSpPr>
          <p:cNvPr id="5" name="Shape 3"/>
          <p:cNvSpPr/>
          <p:nvPr/>
        </p:nvSpPr>
        <p:spPr>
          <a:xfrm>
            <a:off x="2450592" y="3200400"/>
            <a:ext cx="777240" cy="777240"/>
          </a:xfrm>
          <a:prstGeom prst="ellipse">
            <a:avLst/>
          </a:prstGeom>
          <a:solidFill>
            <a:srgbClr val="0F172A"/>
          </a:solidFill>
          <a:ln w="12700">
            <a:solidFill>
              <a:srgbClr val="0F172A"/>
            </a:solidFill>
            <a:prstDash val="solid"/>
          </a:ln>
        </p:spPr>
      </p:sp>
      <p:sp>
        <p:nvSpPr>
          <p:cNvPr id="6" name="Shape 4"/>
          <p:cNvSpPr/>
          <p:nvPr/>
        </p:nvSpPr>
        <p:spPr>
          <a:xfrm>
            <a:off x="2834640" y="3584448"/>
            <a:ext cx="1600200" cy="-1051560"/>
          </a:xfrm>
          <a:prstGeom prst="line">
            <a:avLst/>
          </a:prstGeom>
          <a:noFill/>
          <a:ln w="152400">
            <a:solidFill>
              <a:srgbClr val="0EA5A4"/>
            </a:solidFill>
            <a:prstDash val="solid"/>
          </a:ln>
        </p:spPr>
      </p:sp>
      <p:sp>
        <p:nvSpPr>
          <p:cNvPr id="7" name="Shape 5"/>
          <p:cNvSpPr/>
          <p:nvPr/>
        </p:nvSpPr>
        <p:spPr>
          <a:xfrm>
            <a:off x="4297680" y="2267712"/>
            <a:ext cx="457200" cy="457200"/>
          </a:xfrm>
          <a:prstGeom prst="ellipse">
            <a:avLst/>
          </a:prstGeom>
          <a:solidFill>
            <a:srgbClr val="F59E0B"/>
          </a:solidFill>
          <a:ln w="12700">
            <a:solidFill>
              <a:srgbClr val="F59E0B"/>
            </a:solidFill>
            <a:prstDash val="solid"/>
          </a:ln>
        </p:spPr>
      </p:sp>
      <p:sp>
        <p:nvSpPr>
          <p:cNvPr id="8" name="Shape 6"/>
          <p:cNvSpPr/>
          <p:nvPr/>
        </p:nvSpPr>
        <p:spPr>
          <a:xfrm>
            <a:off x="2834640" y="3584448"/>
            <a:ext cx="-1325880" cy="-1554480"/>
          </a:xfrm>
          <a:prstGeom prst="line">
            <a:avLst/>
          </a:prstGeom>
          <a:noFill/>
          <a:ln w="25400">
            <a:solidFill>
              <a:srgbClr val="F59E0B"/>
            </a:solidFill>
            <a:prstDash val="solid"/>
          </a:ln>
        </p:spPr>
      </p:sp>
      <p:sp>
        <p:nvSpPr>
          <p:cNvPr id="9" name="Text 7"/>
          <p:cNvSpPr/>
          <p:nvPr/>
        </p:nvSpPr>
        <p:spPr>
          <a:xfrm>
            <a:off x="1005840" y="1627632"/>
            <a:ext cx="914400" cy="228600"/>
          </a:xfrm>
          <a:prstGeom prst="rect">
            <a:avLst/>
          </a:prstGeom>
          <a:noFill/>
          <a:ln/>
        </p:spPr>
        <p:txBody>
          <a:bodyPr wrap="square" lIns="0" tIns="0" rIns="0" bIns="0" rtlCol="0" anchor="ctr"/>
          <a:lstStyle/>
          <a:p>
            <a:pPr indent="0" marL="0">
              <a:buNone/>
            </a:pPr>
            <a:r>
              <a:rPr lang="en-US" sz="1200" b="1" dirty="0">
                <a:solidFill>
                  <a:srgbClr val="F59E0B"/>
                </a:solidFill>
              </a:rPr>
              <a:t>target</a:t>
            </a:r>
            <a:endParaRPr lang="en-US" sz="1200" dirty="0"/>
          </a:p>
        </p:txBody>
      </p:sp>
      <p:sp>
        <p:nvSpPr>
          <p:cNvPr id="10" name="Text 8"/>
          <p:cNvSpPr/>
          <p:nvPr/>
        </p:nvSpPr>
        <p:spPr>
          <a:xfrm>
            <a:off x="3657600" y="3977640"/>
            <a:ext cx="1371600" cy="228600"/>
          </a:xfrm>
          <a:prstGeom prst="rect">
            <a:avLst/>
          </a:prstGeom>
          <a:noFill/>
          <a:ln/>
        </p:spPr>
        <p:txBody>
          <a:bodyPr wrap="square" lIns="0" tIns="0" rIns="0" bIns="0" rtlCol="0" anchor="ctr"/>
          <a:lstStyle/>
          <a:p>
            <a:pPr indent="0" marL="0">
              <a:buNone/>
            </a:pPr>
            <a:r>
              <a:rPr lang="en-US" sz="1200" b="1" dirty="0">
                <a:solidFill>
                  <a:srgbClr val="0EA5A4"/>
                </a:solidFill>
              </a:rPr>
              <a:t>current joint</a:t>
            </a:r>
            <a:endParaRPr lang="en-US" sz="1200" dirty="0"/>
          </a:p>
        </p:txBody>
      </p:sp>
      <p:sp>
        <p:nvSpPr>
          <p:cNvPr id="11" name="Text 9"/>
          <p:cNvSpPr/>
          <p:nvPr/>
        </p:nvSpPr>
        <p:spPr>
          <a:xfrm>
            <a:off x="1097280" y="4892040"/>
            <a:ext cx="4206240" cy="365760"/>
          </a:xfrm>
          <a:prstGeom prst="rect">
            <a:avLst/>
          </a:prstGeom>
          <a:noFill/>
          <a:ln/>
        </p:spPr>
        <p:txBody>
          <a:bodyPr wrap="square" lIns="0" tIns="0" rIns="0" bIns="0" rtlCol="0" anchor="ctr"/>
          <a:lstStyle/>
          <a:p>
            <a:pPr algn="ctr" indent="0" marL="0">
              <a:buNone/>
            </a:pPr>
            <a:r>
              <a:rPr lang="en-US" sz="1800" b="1" dirty="0">
                <a:solidFill>
                  <a:srgbClr val="0F172A"/>
                </a:solidFill>
              </a:rPr>
              <a:t>torque ∈ [−2, +2]</a:t>
            </a:r>
            <a:endParaRPr lang="en-US" sz="1800" dirty="0"/>
          </a:p>
        </p:txBody>
      </p:sp>
      <p:sp>
        <p:nvSpPr>
          <p:cNvPr id="12" name="Shape 10"/>
          <p:cNvSpPr/>
          <p:nvPr/>
        </p:nvSpPr>
        <p:spPr>
          <a:xfrm>
            <a:off x="6126480" y="1234440"/>
            <a:ext cx="5303520" cy="1143000"/>
          </a:xfrm>
          <a:prstGeom prst="roundRect">
            <a:avLst>
              <a:gd name="adj" fmla="val 5600"/>
            </a:avLst>
          </a:prstGeom>
          <a:solidFill>
            <a:srgbClr val="FFFFFF"/>
          </a:solidFill>
          <a:ln w="12700">
            <a:solidFill>
              <a:srgbClr val="E2E8F0"/>
            </a:solidFill>
            <a:prstDash val="solid"/>
          </a:ln>
        </p:spPr>
      </p:sp>
      <p:sp>
        <p:nvSpPr>
          <p:cNvPr id="13" name="Shape 11"/>
          <p:cNvSpPr/>
          <p:nvPr/>
        </p:nvSpPr>
        <p:spPr>
          <a:xfrm>
            <a:off x="6126480" y="1234440"/>
            <a:ext cx="73152" cy="1143000"/>
          </a:xfrm>
          <a:prstGeom prst="rect">
            <a:avLst/>
          </a:prstGeom>
          <a:solidFill>
            <a:srgbClr val="0EA5A4"/>
          </a:solidFill>
          <a:ln w="12700">
            <a:solidFill>
              <a:srgbClr val="0EA5A4"/>
            </a:solidFill>
            <a:prstDash val="solid"/>
          </a:ln>
        </p:spPr>
      </p:sp>
      <p:sp>
        <p:nvSpPr>
          <p:cNvPr id="14" name="Text 12"/>
          <p:cNvSpPr/>
          <p:nvPr/>
        </p:nvSpPr>
        <p:spPr>
          <a:xfrm>
            <a:off x="6327648" y="1399032"/>
            <a:ext cx="4992624" cy="274320"/>
          </a:xfrm>
          <a:prstGeom prst="rect">
            <a:avLst/>
          </a:prstGeom>
          <a:noFill/>
          <a:ln/>
        </p:spPr>
        <p:txBody>
          <a:bodyPr wrap="square" lIns="0" tIns="0" rIns="0" bIns="0" rtlCol="0" anchor="ctr"/>
          <a:lstStyle/>
          <a:p>
            <a:pPr indent="0" marL="0">
              <a:buNone/>
            </a:pPr>
            <a:r>
              <a:rPr lang="en-US" sz="1600" b="1" dirty="0">
                <a:solidFill>
                  <a:srgbClr val="0F172A"/>
                </a:solidFill>
              </a:rPr>
              <a:t>Episode setup</a:t>
            </a:r>
            <a:endParaRPr lang="en-US" sz="1600" dirty="0"/>
          </a:p>
        </p:txBody>
      </p:sp>
      <p:sp>
        <p:nvSpPr>
          <p:cNvPr id="15" name="Text 13"/>
          <p:cNvSpPr/>
          <p:nvPr/>
        </p:nvSpPr>
        <p:spPr>
          <a:xfrm>
            <a:off x="6327648" y="1764792"/>
            <a:ext cx="4956048" cy="48463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Random initial angle, angular velocity, and target angle. Maximum length: 200 steps.</a:t>
            </a:r>
            <a:endParaRPr lang="en-US" sz="1200" dirty="0"/>
          </a:p>
        </p:txBody>
      </p:sp>
      <p:sp>
        <p:nvSpPr>
          <p:cNvPr id="16" name="Shape 14"/>
          <p:cNvSpPr/>
          <p:nvPr/>
        </p:nvSpPr>
        <p:spPr>
          <a:xfrm>
            <a:off x="6126480" y="2606040"/>
            <a:ext cx="5303520" cy="1143000"/>
          </a:xfrm>
          <a:prstGeom prst="roundRect">
            <a:avLst>
              <a:gd name="adj" fmla="val 5600"/>
            </a:avLst>
          </a:prstGeom>
          <a:solidFill>
            <a:srgbClr val="FFFFFF"/>
          </a:solidFill>
          <a:ln w="12700">
            <a:solidFill>
              <a:srgbClr val="E2E8F0"/>
            </a:solidFill>
            <a:prstDash val="solid"/>
          </a:ln>
        </p:spPr>
      </p:sp>
      <p:sp>
        <p:nvSpPr>
          <p:cNvPr id="17" name="Shape 15"/>
          <p:cNvSpPr/>
          <p:nvPr/>
        </p:nvSpPr>
        <p:spPr>
          <a:xfrm>
            <a:off x="6126480" y="2606040"/>
            <a:ext cx="73152" cy="1143000"/>
          </a:xfrm>
          <a:prstGeom prst="rect">
            <a:avLst/>
          </a:prstGeom>
          <a:solidFill>
            <a:srgbClr val="2563EB"/>
          </a:solidFill>
          <a:ln w="12700">
            <a:solidFill>
              <a:srgbClr val="2563EB"/>
            </a:solidFill>
            <a:prstDash val="solid"/>
          </a:ln>
        </p:spPr>
      </p:sp>
      <p:sp>
        <p:nvSpPr>
          <p:cNvPr id="18" name="Text 16"/>
          <p:cNvSpPr/>
          <p:nvPr/>
        </p:nvSpPr>
        <p:spPr>
          <a:xfrm>
            <a:off x="6327648" y="2770632"/>
            <a:ext cx="4992624" cy="274320"/>
          </a:xfrm>
          <a:prstGeom prst="rect">
            <a:avLst/>
          </a:prstGeom>
          <a:noFill/>
          <a:ln/>
        </p:spPr>
        <p:txBody>
          <a:bodyPr wrap="square" lIns="0" tIns="0" rIns="0" bIns="0" rtlCol="0" anchor="ctr"/>
          <a:lstStyle/>
          <a:p>
            <a:pPr indent="0" marL="0">
              <a:buNone/>
            </a:pPr>
            <a:r>
              <a:rPr lang="en-US" sz="1600" b="1" dirty="0">
                <a:solidFill>
                  <a:srgbClr val="0F172A"/>
                </a:solidFill>
              </a:rPr>
              <a:t>Dynamics</a:t>
            </a:r>
            <a:endParaRPr lang="en-US" sz="1600" dirty="0"/>
          </a:p>
        </p:txBody>
      </p:sp>
      <p:sp>
        <p:nvSpPr>
          <p:cNvPr id="19" name="Text 17"/>
          <p:cNvSpPr/>
          <p:nvPr/>
        </p:nvSpPr>
        <p:spPr>
          <a:xfrm>
            <a:off x="6327648" y="3136392"/>
            <a:ext cx="4956048" cy="48463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Inertia + damping + small gravity term update angular acceleration, velocity, and angle.</a:t>
            </a:r>
            <a:endParaRPr lang="en-US" sz="1200" dirty="0"/>
          </a:p>
        </p:txBody>
      </p:sp>
      <p:sp>
        <p:nvSpPr>
          <p:cNvPr id="20" name="Shape 18"/>
          <p:cNvSpPr/>
          <p:nvPr/>
        </p:nvSpPr>
        <p:spPr>
          <a:xfrm>
            <a:off x="6126480" y="3977640"/>
            <a:ext cx="5303520" cy="1143000"/>
          </a:xfrm>
          <a:prstGeom prst="roundRect">
            <a:avLst>
              <a:gd name="adj" fmla="val 5600"/>
            </a:avLst>
          </a:prstGeom>
          <a:solidFill>
            <a:srgbClr val="FFFFFF"/>
          </a:solidFill>
          <a:ln w="12700">
            <a:solidFill>
              <a:srgbClr val="E2E8F0"/>
            </a:solidFill>
            <a:prstDash val="solid"/>
          </a:ln>
        </p:spPr>
      </p:sp>
      <p:sp>
        <p:nvSpPr>
          <p:cNvPr id="21" name="Shape 19"/>
          <p:cNvSpPr/>
          <p:nvPr/>
        </p:nvSpPr>
        <p:spPr>
          <a:xfrm>
            <a:off x="6126480" y="3977640"/>
            <a:ext cx="73152" cy="1143000"/>
          </a:xfrm>
          <a:prstGeom prst="rect">
            <a:avLst/>
          </a:prstGeom>
          <a:solidFill>
            <a:srgbClr val="F59E0B"/>
          </a:solidFill>
          <a:ln w="12700">
            <a:solidFill>
              <a:srgbClr val="F59E0B"/>
            </a:solidFill>
            <a:prstDash val="solid"/>
          </a:ln>
        </p:spPr>
      </p:sp>
      <p:sp>
        <p:nvSpPr>
          <p:cNvPr id="22" name="Text 20"/>
          <p:cNvSpPr/>
          <p:nvPr/>
        </p:nvSpPr>
        <p:spPr>
          <a:xfrm>
            <a:off x="6327648" y="4142232"/>
            <a:ext cx="4992624" cy="274320"/>
          </a:xfrm>
          <a:prstGeom prst="rect">
            <a:avLst/>
          </a:prstGeom>
          <a:noFill/>
          <a:ln/>
        </p:spPr>
        <p:txBody>
          <a:bodyPr wrap="square" lIns="0" tIns="0" rIns="0" bIns="0" rtlCol="0" anchor="ctr"/>
          <a:lstStyle/>
          <a:p>
            <a:pPr indent="0" marL="0">
              <a:buNone/>
            </a:pPr>
            <a:r>
              <a:rPr lang="en-US" sz="1600" b="1" dirty="0">
                <a:solidFill>
                  <a:srgbClr val="0F172A"/>
                </a:solidFill>
              </a:rPr>
              <a:t>Interface</a:t>
            </a:r>
            <a:endParaRPr lang="en-US" sz="1600" dirty="0"/>
          </a:p>
        </p:txBody>
      </p:sp>
      <p:sp>
        <p:nvSpPr>
          <p:cNvPr id="23" name="Text 21"/>
          <p:cNvSpPr/>
          <p:nvPr/>
        </p:nvSpPr>
        <p:spPr>
          <a:xfrm>
            <a:off x="6327648" y="4507992"/>
            <a:ext cx="4956048" cy="48463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reset() and step(action) follow the common Gym/Gymnasium interaction pattern.</a:t>
            </a:r>
            <a:endParaRPr lang="en-US" sz="1200" dirty="0"/>
          </a:p>
        </p:txBody>
      </p:sp>
      <p:sp>
        <p:nvSpPr>
          <p:cNvPr id="24" name="Text 22"/>
          <p:cNvSpPr/>
          <p:nvPr/>
        </p:nvSpPr>
        <p:spPr>
          <a:xfrm>
            <a:off x="594360" y="6181344"/>
            <a:ext cx="10972800" cy="201168"/>
          </a:xfrm>
          <a:prstGeom prst="rect">
            <a:avLst/>
          </a:prstGeom>
          <a:noFill/>
          <a:ln/>
        </p:spPr>
        <p:txBody>
          <a:bodyPr wrap="square" lIns="0" tIns="0" rIns="0" bIns="0" rtlCol="0" anchor="ctr"/>
          <a:lstStyle/>
          <a:p>
            <a:pPr indent="0" marL="0">
              <a:buNone/>
            </a:pPr>
            <a:r>
              <a:rPr lang="en-US" sz="850" i="1" dirty="0">
                <a:solidFill>
                  <a:srgbClr val="64748B"/>
                </a:solidFill>
              </a:rPr>
              <a:t>Project implementation: CustomContinuousRobotJointEnv in ppo_robotics_project.py.</a:t>
            </a:r>
            <a:endParaRPr lang="en-US" sz="85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8138160" cy="411480"/>
          </a:xfrm>
          <a:prstGeom prst="rect">
            <a:avLst/>
          </a:prstGeom>
          <a:noFill/>
          <a:ln/>
        </p:spPr>
        <p:txBody>
          <a:bodyPr wrap="square" lIns="0" tIns="0" rIns="0" bIns="0" rtlCol="0" anchor="ctr"/>
          <a:lstStyle/>
          <a:p>
            <a:pPr indent="0" marL="0">
              <a:buNone/>
            </a:pPr>
            <a:r>
              <a:rPr lang="en-US" sz="2600" b="1" dirty="0">
                <a:solidFill>
                  <a:srgbClr val="0F172A"/>
                </a:solidFill>
                <a:latin typeface="Aptos Display" pitchFamily="34" charset="0"/>
                <a:ea typeface="Aptos Display" pitchFamily="34" charset="-122"/>
                <a:cs typeface="Aptos Display" pitchFamily="34" charset="-120"/>
              </a:rPr>
              <a:t>State, Action, and Reward Design</a:t>
            </a:r>
            <a:endParaRPr lang="en-US" sz="2600" dirty="0"/>
          </a:p>
        </p:txBody>
      </p:sp>
      <p:sp>
        <p:nvSpPr>
          <p:cNvPr id="3" name="Text 1"/>
          <p:cNvSpPr/>
          <p:nvPr/>
        </p:nvSpPr>
        <p:spPr>
          <a:xfrm>
            <a:off x="585216" y="822960"/>
            <a:ext cx="9875520" cy="274320"/>
          </a:xfrm>
          <a:prstGeom prst="rect">
            <a:avLst/>
          </a:prstGeom>
          <a:noFill/>
          <a:ln/>
        </p:spPr>
        <p:txBody>
          <a:bodyPr wrap="square" lIns="0" tIns="0" rIns="0" bIns="0" rtlCol="0" anchor="ctr"/>
          <a:lstStyle/>
          <a:p>
            <a:pPr indent="0" marL="0">
              <a:buNone/>
            </a:pPr>
            <a:r>
              <a:rPr lang="en-US" sz="1250" dirty="0">
                <a:solidFill>
                  <a:srgbClr val="64748B"/>
                </a:solidFill>
              </a:rPr>
              <a:t>The reward balances reaching accuracy, stability, and control effort</a:t>
            </a:r>
            <a:endParaRPr lang="en-US" sz="1250" dirty="0"/>
          </a:p>
        </p:txBody>
      </p:sp>
      <p:sp>
        <p:nvSpPr>
          <p:cNvPr id="4" name="Shape 2"/>
          <p:cNvSpPr/>
          <p:nvPr/>
        </p:nvSpPr>
        <p:spPr>
          <a:xfrm>
            <a:off x="731520" y="1234440"/>
            <a:ext cx="3383280" cy="2743200"/>
          </a:xfrm>
          <a:prstGeom prst="roundRect">
            <a:avLst>
              <a:gd name="adj" fmla="val 2333"/>
            </a:avLst>
          </a:prstGeom>
          <a:solidFill>
            <a:srgbClr val="FFFFFF"/>
          </a:solidFill>
          <a:ln w="12700">
            <a:solidFill>
              <a:srgbClr val="E2E8F0"/>
            </a:solidFill>
            <a:prstDash val="solid"/>
          </a:ln>
        </p:spPr>
      </p:sp>
      <p:sp>
        <p:nvSpPr>
          <p:cNvPr id="5" name="Shape 3"/>
          <p:cNvSpPr/>
          <p:nvPr/>
        </p:nvSpPr>
        <p:spPr>
          <a:xfrm>
            <a:off x="731520" y="1234440"/>
            <a:ext cx="73152" cy="2743200"/>
          </a:xfrm>
          <a:prstGeom prst="rect">
            <a:avLst/>
          </a:prstGeom>
          <a:solidFill>
            <a:srgbClr val="0EA5A4"/>
          </a:solidFill>
          <a:ln w="12700">
            <a:solidFill>
              <a:srgbClr val="0EA5A4"/>
            </a:solidFill>
            <a:prstDash val="solid"/>
          </a:ln>
        </p:spPr>
      </p:sp>
      <p:sp>
        <p:nvSpPr>
          <p:cNvPr id="6" name="Text 4"/>
          <p:cNvSpPr/>
          <p:nvPr/>
        </p:nvSpPr>
        <p:spPr>
          <a:xfrm>
            <a:off x="932688" y="1399032"/>
            <a:ext cx="3072384" cy="274320"/>
          </a:xfrm>
          <a:prstGeom prst="rect">
            <a:avLst/>
          </a:prstGeom>
          <a:noFill/>
          <a:ln/>
        </p:spPr>
        <p:txBody>
          <a:bodyPr wrap="square" lIns="0" tIns="0" rIns="0" bIns="0" rtlCol="0" anchor="ctr"/>
          <a:lstStyle/>
          <a:p>
            <a:pPr indent="0" marL="0">
              <a:buNone/>
            </a:pPr>
            <a:r>
              <a:rPr lang="en-US" sz="1600" b="1" dirty="0">
                <a:solidFill>
                  <a:srgbClr val="0F172A"/>
                </a:solidFill>
              </a:rPr>
              <a:t>STATE</a:t>
            </a:r>
            <a:endParaRPr lang="en-US" sz="1600" dirty="0"/>
          </a:p>
        </p:txBody>
      </p:sp>
      <p:sp>
        <p:nvSpPr>
          <p:cNvPr id="7" name="Text 5"/>
          <p:cNvSpPr/>
          <p:nvPr/>
        </p:nvSpPr>
        <p:spPr>
          <a:xfrm>
            <a:off x="932688" y="1764792"/>
            <a:ext cx="3035808" cy="208483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 sin θ, cos θ, ω / ω_max, sin e, cos e ],  e = θ − target</a:t>
            </a:r>
            <a:endParaRPr lang="en-US" sz="1200" dirty="0"/>
          </a:p>
          <a:p>
            <a:pPr indent="0" marL="0">
              <a:buNone/>
            </a:pPr>
            <a:endParaRPr lang="en-US" sz="1200" dirty="0"/>
          </a:p>
          <a:p>
            <a:pPr indent="0" marL="0">
              <a:buNone/>
            </a:pPr>
            <a:r>
              <a:rPr lang="en-US" sz="1200" dirty="0">
                <a:solidFill>
                  <a:srgbClr val="334155"/>
                </a:solidFill>
              </a:rPr>
              <a:t>Target is given relative to the joint; sin/cos avoid the ±π jump.</a:t>
            </a:r>
            <a:endParaRPr lang="en-US" sz="1200" dirty="0"/>
          </a:p>
        </p:txBody>
      </p:sp>
      <p:sp>
        <p:nvSpPr>
          <p:cNvPr id="8" name="Shape 6"/>
          <p:cNvSpPr/>
          <p:nvPr/>
        </p:nvSpPr>
        <p:spPr>
          <a:xfrm>
            <a:off x="4389120" y="1234440"/>
            <a:ext cx="3383280" cy="2743200"/>
          </a:xfrm>
          <a:prstGeom prst="roundRect">
            <a:avLst>
              <a:gd name="adj" fmla="val 2333"/>
            </a:avLst>
          </a:prstGeom>
          <a:solidFill>
            <a:srgbClr val="FFFFFF"/>
          </a:solidFill>
          <a:ln w="12700">
            <a:solidFill>
              <a:srgbClr val="E2E8F0"/>
            </a:solidFill>
            <a:prstDash val="solid"/>
          </a:ln>
        </p:spPr>
      </p:sp>
      <p:sp>
        <p:nvSpPr>
          <p:cNvPr id="9" name="Shape 7"/>
          <p:cNvSpPr/>
          <p:nvPr/>
        </p:nvSpPr>
        <p:spPr>
          <a:xfrm>
            <a:off x="4389120" y="1234440"/>
            <a:ext cx="73152" cy="2743200"/>
          </a:xfrm>
          <a:prstGeom prst="rect">
            <a:avLst/>
          </a:prstGeom>
          <a:solidFill>
            <a:srgbClr val="2563EB"/>
          </a:solidFill>
          <a:ln w="12700">
            <a:solidFill>
              <a:srgbClr val="2563EB"/>
            </a:solidFill>
            <a:prstDash val="solid"/>
          </a:ln>
        </p:spPr>
      </p:sp>
      <p:sp>
        <p:nvSpPr>
          <p:cNvPr id="10" name="Text 8"/>
          <p:cNvSpPr/>
          <p:nvPr/>
        </p:nvSpPr>
        <p:spPr>
          <a:xfrm>
            <a:off x="4590288" y="1399032"/>
            <a:ext cx="3072384" cy="274320"/>
          </a:xfrm>
          <a:prstGeom prst="rect">
            <a:avLst/>
          </a:prstGeom>
          <a:noFill/>
          <a:ln/>
        </p:spPr>
        <p:txBody>
          <a:bodyPr wrap="square" lIns="0" tIns="0" rIns="0" bIns="0" rtlCol="0" anchor="ctr"/>
          <a:lstStyle/>
          <a:p>
            <a:pPr indent="0" marL="0">
              <a:buNone/>
            </a:pPr>
            <a:r>
              <a:rPr lang="en-US" sz="1600" b="1" dirty="0">
                <a:solidFill>
                  <a:srgbClr val="0F172A"/>
                </a:solidFill>
              </a:rPr>
              <a:t>ACTION</a:t>
            </a:r>
            <a:endParaRPr lang="en-US" sz="1600" dirty="0"/>
          </a:p>
        </p:txBody>
      </p:sp>
      <p:sp>
        <p:nvSpPr>
          <p:cNvPr id="11" name="Text 9"/>
          <p:cNvSpPr/>
          <p:nvPr/>
        </p:nvSpPr>
        <p:spPr>
          <a:xfrm>
            <a:off x="4590288" y="1764792"/>
            <a:ext cx="3035808" cy="208483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One Gaussian-sampled torque command, clipped to [−2, +2].</a:t>
            </a:r>
            <a:endParaRPr lang="en-US" sz="1200" dirty="0"/>
          </a:p>
          <a:p>
            <a:pPr indent="0" marL="0">
              <a:buNone/>
            </a:pPr>
            <a:endParaRPr lang="en-US" sz="1200" dirty="0"/>
          </a:p>
          <a:p>
            <a:pPr indent="0" marL="0">
              <a:buNone/>
            </a:pPr>
            <a:r>
              <a:rPr lang="en-US" sz="1200" dirty="0">
                <a:solidFill>
                  <a:srgbClr val="334155"/>
                </a:solidFill>
              </a:rPr>
              <a:t>Continuous action space matches motor-control behavior.</a:t>
            </a:r>
            <a:endParaRPr lang="en-US" sz="1200" dirty="0"/>
          </a:p>
        </p:txBody>
      </p:sp>
      <p:sp>
        <p:nvSpPr>
          <p:cNvPr id="12" name="Shape 10"/>
          <p:cNvSpPr/>
          <p:nvPr/>
        </p:nvSpPr>
        <p:spPr>
          <a:xfrm>
            <a:off x="8046720" y="1234440"/>
            <a:ext cx="3383280" cy="2743200"/>
          </a:xfrm>
          <a:prstGeom prst="roundRect">
            <a:avLst>
              <a:gd name="adj" fmla="val 2333"/>
            </a:avLst>
          </a:prstGeom>
          <a:solidFill>
            <a:srgbClr val="FFFFFF"/>
          </a:solidFill>
          <a:ln w="12700">
            <a:solidFill>
              <a:srgbClr val="E2E8F0"/>
            </a:solidFill>
            <a:prstDash val="solid"/>
          </a:ln>
        </p:spPr>
      </p:sp>
      <p:sp>
        <p:nvSpPr>
          <p:cNvPr id="13" name="Shape 11"/>
          <p:cNvSpPr/>
          <p:nvPr/>
        </p:nvSpPr>
        <p:spPr>
          <a:xfrm>
            <a:off x="8046720" y="1234440"/>
            <a:ext cx="73152" cy="2743200"/>
          </a:xfrm>
          <a:prstGeom prst="rect">
            <a:avLst/>
          </a:prstGeom>
          <a:solidFill>
            <a:srgbClr val="F59E0B"/>
          </a:solidFill>
          <a:ln w="12700">
            <a:solidFill>
              <a:srgbClr val="F59E0B"/>
            </a:solidFill>
            <a:prstDash val="solid"/>
          </a:ln>
        </p:spPr>
      </p:sp>
      <p:sp>
        <p:nvSpPr>
          <p:cNvPr id="14" name="Text 12"/>
          <p:cNvSpPr/>
          <p:nvPr/>
        </p:nvSpPr>
        <p:spPr>
          <a:xfrm>
            <a:off x="8247888" y="1399032"/>
            <a:ext cx="3072384" cy="274320"/>
          </a:xfrm>
          <a:prstGeom prst="rect">
            <a:avLst/>
          </a:prstGeom>
          <a:noFill/>
          <a:ln/>
        </p:spPr>
        <p:txBody>
          <a:bodyPr wrap="square" lIns="0" tIns="0" rIns="0" bIns="0" rtlCol="0" anchor="ctr"/>
          <a:lstStyle/>
          <a:p>
            <a:pPr indent="0" marL="0">
              <a:buNone/>
            </a:pPr>
            <a:r>
              <a:rPr lang="en-US" sz="1600" b="1" dirty="0">
                <a:solidFill>
                  <a:srgbClr val="0F172A"/>
                </a:solidFill>
              </a:rPr>
              <a:t>REWARD</a:t>
            </a:r>
            <a:endParaRPr lang="en-US" sz="1600" dirty="0"/>
          </a:p>
        </p:txBody>
      </p:sp>
      <p:sp>
        <p:nvSpPr>
          <p:cNvPr id="15" name="Text 13"/>
          <p:cNvSpPr/>
          <p:nvPr/>
        </p:nvSpPr>
        <p:spPr>
          <a:xfrm>
            <a:off x="8247888" y="1764792"/>
            <a:ext cx="3035808" cy="208483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Higher near the target; penalties for angle error, angular velocity, and torque. Bonus for precise + stable reaching.</a:t>
            </a:r>
            <a:endParaRPr lang="en-US" sz="1200" dirty="0"/>
          </a:p>
        </p:txBody>
      </p:sp>
      <p:sp>
        <p:nvSpPr>
          <p:cNvPr id="16" name="Shape 14"/>
          <p:cNvSpPr/>
          <p:nvPr/>
        </p:nvSpPr>
        <p:spPr>
          <a:xfrm>
            <a:off x="1143000" y="4389120"/>
            <a:ext cx="9921240" cy="960120"/>
          </a:xfrm>
          <a:prstGeom prst="roundRect">
            <a:avLst>
              <a:gd name="adj" fmla="val 4762"/>
            </a:avLst>
          </a:prstGeom>
          <a:solidFill>
            <a:srgbClr val="F1F5F9"/>
          </a:solidFill>
          <a:ln w="12700">
            <a:solidFill>
              <a:srgbClr val="E2E8F0"/>
            </a:solidFill>
            <a:prstDash val="solid"/>
          </a:ln>
        </p:spPr>
      </p:sp>
      <p:sp>
        <p:nvSpPr>
          <p:cNvPr id="17" name="Text 15"/>
          <p:cNvSpPr/>
          <p:nvPr/>
        </p:nvSpPr>
        <p:spPr>
          <a:xfrm>
            <a:off x="1325880" y="4681728"/>
            <a:ext cx="9555480" cy="310896"/>
          </a:xfrm>
          <a:prstGeom prst="rect">
            <a:avLst/>
          </a:prstGeom>
          <a:noFill/>
          <a:ln/>
        </p:spPr>
        <p:txBody>
          <a:bodyPr wrap="square" lIns="0" tIns="0" rIns="0" bIns="0" rtlCol="0" anchor="ctr"/>
          <a:lstStyle/>
          <a:p>
            <a:pPr algn="ctr" indent="0" marL="0">
              <a:buNone/>
            </a:pPr>
            <a:r>
              <a:rPr lang="en-US" sz="1600" b="1" dirty="0">
                <a:solidFill>
                  <a:srgbClr val="0F172A"/>
                </a:solidFill>
                <a:latin typeface="Aptos Mono" pitchFamily="34" charset="0"/>
                <a:ea typeface="Aptos Mono" pitchFamily="34" charset="-122"/>
                <a:cs typeface="Aptos Mono" pitchFamily="34" charset="-120"/>
              </a:rPr>
              <a:t>r = 1 − 1.4(error/π)² − 0.04·velocity² − 0.002·torque²  +  stabilization bonus</a:t>
            </a:r>
            <a:endParaRPr lang="en-US" sz="160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8138160" cy="411480"/>
          </a:xfrm>
          <a:prstGeom prst="rect">
            <a:avLst/>
          </a:prstGeom>
          <a:noFill/>
          <a:ln/>
        </p:spPr>
        <p:txBody>
          <a:bodyPr wrap="square" lIns="0" tIns="0" rIns="0" bIns="0" rtlCol="0" anchor="ctr"/>
          <a:lstStyle/>
          <a:p>
            <a:pPr indent="0" marL="0">
              <a:buNone/>
            </a:pPr>
            <a:r>
              <a:rPr lang="en-US" sz="2600" b="1" dirty="0">
                <a:solidFill>
                  <a:srgbClr val="0F172A"/>
                </a:solidFill>
                <a:latin typeface="Aptos Display" pitchFamily="34" charset="0"/>
                <a:ea typeface="Aptos Display" pitchFamily="34" charset="-122"/>
                <a:cs typeface="Aptos Display" pitchFamily="34" charset="-120"/>
              </a:rPr>
              <a:t>PPO Methodology</a:t>
            </a:r>
            <a:endParaRPr lang="en-US" sz="2600" dirty="0"/>
          </a:p>
        </p:txBody>
      </p:sp>
      <p:sp>
        <p:nvSpPr>
          <p:cNvPr id="3" name="Text 1"/>
          <p:cNvSpPr/>
          <p:nvPr/>
        </p:nvSpPr>
        <p:spPr>
          <a:xfrm>
            <a:off x="585216" y="822960"/>
            <a:ext cx="9875520" cy="274320"/>
          </a:xfrm>
          <a:prstGeom prst="rect">
            <a:avLst/>
          </a:prstGeom>
          <a:noFill/>
          <a:ln/>
        </p:spPr>
        <p:txBody>
          <a:bodyPr wrap="square" lIns="0" tIns="0" rIns="0" bIns="0" rtlCol="0" anchor="ctr"/>
          <a:lstStyle/>
          <a:p>
            <a:pPr indent="0" marL="0">
              <a:buNone/>
            </a:pPr>
            <a:r>
              <a:rPr lang="en-US" sz="1250" dirty="0">
                <a:solidFill>
                  <a:srgbClr val="64748B"/>
                </a:solidFill>
              </a:rPr>
              <a:t>Collect → estimate advantage → optimize clipped objective → repeat</a:t>
            </a:r>
            <a:endParaRPr lang="en-US" sz="1250" dirty="0"/>
          </a:p>
        </p:txBody>
      </p:sp>
      <p:sp>
        <p:nvSpPr>
          <p:cNvPr id="4" name="Shape 2"/>
          <p:cNvSpPr/>
          <p:nvPr/>
        </p:nvSpPr>
        <p:spPr>
          <a:xfrm>
            <a:off x="1216152" y="1417320"/>
            <a:ext cx="658368" cy="658368"/>
          </a:xfrm>
          <a:prstGeom prst="ellipse">
            <a:avLst/>
          </a:prstGeom>
          <a:solidFill>
            <a:srgbClr val="0EA5A4"/>
          </a:solidFill>
          <a:ln w="12700">
            <a:solidFill>
              <a:srgbClr val="0EA5A4"/>
            </a:solidFill>
            <a:prstDash val="solid"/>
          </a:ln>
        </p:spPr>
      </p:sp>
      <p:sp>
        <p:nvSpPr>
          <p:cNvPr id="5" name="Text 3"/>
          <p:cNvSpPr/>
          <p:nvPr/>
        </p:nvSpPr>
        <p:spPr>
          <a:xfrm>
            <a:off x="1216152" y="1572768"/>
            <a:ext cx="658368" cy="18288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p:nvPr/>
        </p:nvSpPr>
        <p:spPr>
          <a:xfrm>
            <a:off x="685800" y="2286000"/>
            <a:ext cx="1737360" cy="274320"/>
          </a:xfrm>
          <a:prstGeom prst="rect">
            <a:avLst/>
          </a:prstGeom>
          <a:noFill/>
          <a:ln/>
        </p:spPr>
        <p:txBody>
          <a:bodyPr wrap="square" lIns="0" tIns="0" rIns="0" bIns="0" rtlCol="0" anchor="ctr"/>
          <a:lstStyle/>
          <a:p>
            <a:pPr algn="ctr" indent="0" marL="0">
              <a:buNone/>
            </a:pPr>
            <a:r>
              <a:rPr lang="en-US" sz="1400" b="1" dirty="0">
                <a:solidFill>
                  <a:srgbClr val="0F172A"/>
                </a:solidFill>
              </a:rPr>
              <a:t>Collect rollout</a:t>
            </a:r>
            <a:endParaRPr lang="en-US" sz="1400" dirty="0"/>
          </a:p>
        </p:txBody>
      </p:sp>
      <p:sp>
        <p:nvSpPr>
          <p:cNvPr id="7" name="Text 5"/>
          <p:cNvSpPr/>
          <p:nvPr/>
        </p:nvSpPr>
        <p:spPr>
          <a:xfrm>
            <a:off x="685800" y="2697480"/>
            <a:ext cx="1737360" cy="685800"/>
          </a:xfrm>
          <a:prstGeom prst="rect">
            <a:avLst/>
          </a:prstGeom>
          <a:noFill/>
          <a:ln/>
        </p:spPr>
        <p:txBody>
          <a:bodyPr wrap="square" lIns="254" tIns="254" rIns="254" bIns="254" rtlCol="0" anchor="ctr">
            <a:normAutofit/>
          </a:bodyPr>
          <a:lstStyle/>
          <a:p>
            <a:pPr algn="ctr" indent="0" marL="0">
              <a:buNone/>
            </a:pPr>
            <a:r>
              <a:rPr lang="en-US" sz="1050" dirty="0">
                <a:solidFill>
                  <a:srgbClr val="64748B"/>
                </a:solidFill>
              </a:rPr>
              <a:t>obs • action • reward • logπ • V(s)</a:t>
            </a:r>
            <a:endParaRPr lang="en-US" sz="1050" dirty="0"/>
          </a:p>
        </p:txBody>
      </p:sp>
      <p:sp>
        <p:nvSpPr>
          <p:cNvPr id="8" name="Shape 6"/>
          <p:cNvSpPr/>
          <p:nvPr/>
        </p:nvSpPr>
        <p:spPr>
          <a:xfrm>
            <a:off x="1984248" y="1755648"/>
            <a:ext cx="877824" cy="0"/>
          </a:xfrm>
          <a:prstGeom prst="line">
            <a:avLst/>
          </a:prstGeom>
          <a:noFill/>
          <a:ln w="25400">
            <a:solidFill>
              <a:srgbClr val="CBD5E1"/>
            </a:solidFill>
            <a:prstDash val="solid"/>
            <a:headEnd type="none"/>
            <a:tailEnd type="triangle"/>
          </a:ln>
        </p:spPr>
      </p:sp>
      <p:sp>
        <p:nvSpPr>
          <p:cNvPr id="9" name="Shape 7"/>
          <p:cNvSpPr/>
          <p:nvPr/>
        </p:nvSpPr>
        <p:spPr>
          <a:xfrm>
            <a:off x="3502152" y="1417320"/>
            <a:ext cx="658368" cy="658368"/>
          </a:xfrm>
          <a:prstGeom prst="ellipse">
            <a:avLst/>
          </a:prstGeom>
          <a:solidFill>
            <a:srgbClr val="0EA5A4"/>
          </a:solidFill>
          <a:ln w="12700">
            <a:solidFill>
              <a:srgbClr val="0EA5A4"/>
            </a:solidFill>
            <a:prstDash val="solid"/>
          </a:ln>
        </p:spPr>
      </p:sp>
      <p:sp>
        <p:nvSpPr>
          <p:cNvPr id="10" name="Text 8"/>
          <p:cNvSpPr/>
          <p:nvPr/>
        </p:nvSpPr>
        <p:spPr>
          <a:xfrm>
            <a:off x="3502152" y="1572768"/>
            <a:ext cx="658368" cy="18288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1" name="Text 9"/>
          <p:cNvSpPr/>
          <p:nvPr/>
        </p:nvSpPr>
        <p:spPr>
          <a:xfrm>
            <a:off x="2971800" y="2286000"/>
            <a:ext cx="1737360" cy="274320"/>
          </a:xfrm>
          <a:prstGeom prst="rect">
            <a:avLst/>
          </a:prstGeom>
          <a:noFill/>
          <a:ln/>
        </p:spPr>
        <p:txBody>
          <a:bodyPr wrap="square" lIns="0" tIns="0" rIns="0" bIns="0" rtlCol="0" anchor="ctr"/>
          <a:lstStyle/>
          <a:p>
            <a:pPr algn="ctr" indent="0" marL="0">
              <a:buNone/>
            </a:pPr>
            <a:r>
              <a:rPr lang="en-US" sz="1400" b="1" dirty="0">
                <a:solidFill>
                  <a:srgbClr val="0F172A"/>
                </a:solidFill>
              </a:rPr>
              <a:t>Compute GAE</a:t>
            </a:r>
            <a:endParaRPr lang="en-US" sz="1400" dirty="0"/>
          </a:p>
        </p:txBody>
      </p:sp>
      <p:sp>
        <p:nvSpPr>
          <p:cNvPr id="12" name="Text 10"/>
          <p:cNvSpPr/>
          <p:nvPr/>
        </p:nvSpPr>
        <p:spPr>
          <a:xfrm>
            <a:off x="2971800" y="2697480"/>
            <a:ext cx="1737360" cy="685800"/>
          </a:xfrm>
          <a:prstGeom prst="rect">
            <a:avLst/>
          </a:prstGeom>
          <a:noFill/>
          <a:ln/>
        </p:spPr>
        <p:txBody>
          <a:bodyPr wrap="square" lIns="254" tIns="254" rIns="254" bIns="254" rtlCol="0" anchor="ctr">
            <a:normAutofit/>
          </a:bodyPr>
          <a:lstStyle/>
          <a:p>
            <a:pPr algn="ctr" indent="0" marL="0">
              <a:buNone/>
            </a:pPr>
            <a:r>
              <a:rPr lang="en-US" sz="1050" dirty="0">
                <a:solidFill>
                  <a:srgbClr val="64748B"/>
                </a:solidFill>
              </a:rPr>
              <a:t>TD residuals; bootstrap V(s) at time limit</a:t>
            </a:r>
            <a:endParaRPr lang="en-US" sz="1050" dirty="0"/>
          </a:p>
        </p:txBody>
      </p:sp>
      <p:sp>
        <p:nvSpPr>
          <p:cNvPr id="13" name="Shape 11"/>
          <p:cNvSpPr/>
          <p:nvPr/>
        </p:nvSpPr>
        <p:spPr>
          <a:xfrm>
            <a:off x="4270248" y="1755648"/>
            <a:ext cx="877824" cy="0"/>
          </a:xfrm>
          <a:prstGeom prst="line">
            <a:avLst/>
          </a:prstGeom>
          <a:noFill/>
          <a:ln w="25400">
            <a:solidFill>
              <a:srgbClr val="CBD5E1"/>
            </a:solidFill>
            <a:prstDash val="solid"/>
            <a:headEnd type="none"/>
            <a:tailEnd type="triangle"/>
          </a:ln>
        </p:spPr>
      </p:sp>
      <p:sp>
        <p:nvSpPr>
          <p:cNvPr id="14" name="Shape 12"/>
          <p:cNvSpPr/>
          <p:nvPr/>
        </p:nvSpPr>
        <p:spPr>
          <a:xfrm>
            <a:off x="5788152" y="1417320"/>
            <a:ext cx="658368" cy="658368"/>
          </a:xfrm>
          <a:prstGeom prst="ellipse">
            <a:avLst/>
          </a:prstGeom>
          <a:solidFill>
            <a:srgbClr val="0EA5A4"/>
          </a:solidFill>
          <a:ln w="12700">
            <a:solidFill>
              <a:srgbClr val="0EA5A4"/>
            </a:solidFill>
            <a:prstDash val="solid"/>
          </a:ln>
        </p:spPr>
      </p:sp>
      <p:sp>
        <p:nvSpPr>
          <p:cNvPr id="15" name="Text 13"/>
          <p:cNvSpPr/>
          <p:nvPr/>
        </p:nvSpPr>
        <p:spPr>
          <a:xfrm>
            <a:off x="5788152" y="1572768"/>
            <a:ext cx="658368" cy="18288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6" name="Text 14"/>
          <p:cNvSpPr/>
          <p:nvPr/>
        </p:nvSpPr>
        <p:spPr>
          <a:xfrm>
            <a:off x="5257800" y="2286000"/>
            <a:ext cx="1737360" cy="274320"/>
          </a:xfrm>
          <a:prstGeom prst="rect">
            <a:avLst/>
          </a:prstGeom>
          <a:noFill/>
          <a:ln/>
        </p:spPr>
        <p:txBody>
          <a:bodyPr wrap="square" lIns="0" tIns="0" rIns="0" bIns="0" rtlCol="0" anchor="ctr"/>
          <a:lstStyle/>
          <a:p>
            <a:pPr algn="ctr" indent="0" marL="0">
              <a:buNone/>
            </a:pPr>
            <a:r>
              <a:rPr lang="en-US" sz="1400" b="1" dirty="0">
                <a:solidFill>
                  <a:srgbClr val="0F172A"/>
                </a:solidFill>
              </a:rPr>
              <a:t>Normalize</a:t>
            </a:r>
            <a:endParaRPr lang="en-US" sz="1400" dirty="0"/>
          </a:p>
        </p:txBody>
      </p:sp>
      <p:sp>
        <p:nvSpPr>
          <p:cNvPr id="17" name="Text 15"/>
          <p:cNvSpPr/>
          <p:nvPr/>
        </p:nvSpPr>
        <p:spPr>
          <a:xfrm>
            <a:off x="5257800" y="2697480"/>
            <a:ext cx="1737360" cy="685800"/>
          </a:xfrm>
          <a:prstGeom prst="rect">
            <a:avLst/>
          </a:prstGeom>
          <a:noFill/>
          <a:ln/>
        </p:spPr>
        <p:txBody>
          <a:bodyPr wrap="square" lIns="254" tIns="254" rIns="254" bIns="254" rtlCol="0" anchor="ctr">
            <a:normAutofit/>
          </a:bodyPr>
          <a:lstStyle/>
          <a:p>
            <a:pPr algn="ctr" indent="0" marL="0">
              <a:buNone/>
            </a:pPr>
            <a:r>
              <a:rPr lang="en-US" sz="1050" dirty="0">
                <a:solidFill>
                  <a:srgbClr val="64748B"/>
                </a:solidFill>
              </a:rPr>
              <a:t>stabilize the advantage scale</a:t>
            </a:r>
            <a:endParaRPr lang="en-US" sz="1050" dirty="0"/>
          </a:p>
        </p:txBody>
      </p:sp>
      <p:sp>
        <p:nvSpPr>
          <p:cNvPr id="18" name="Shape 16"/>
          <p:cNvSpPr/>
          <p:nvPr/>
        </p:nvSpPr>
        <p:spPr>
          <a:xfrm>
            <a:off x="6556248" y="1755648"/>
            <a:ext cx="877824" cy="0"/>
          </a:xfrm>
          <a:prstGeom prst="line">
            <a:avLst/>
          </a:prstGeom>
          <a:noFill/>
          <a:ln w="25400">
            <a:solidFill>
              <a:srgbClr val="CBD5E1"/>
            </a:solidFill>
            <a:prstDash val="solid"/>
            <a:headEnd type="none"/>
            <a:tailEnd type="triangle"/>
          </a:ln>
        </p:spPr>
      </p:sp>
      <p:sp>
        <p:nvSpPr>
          <p:cNvPr id="19" name="Shape 17"/>
          <p:cNvSpPr/>
          <p:nvPr/>
        </p:nvSpPr>
        <p:spPr>
          <a:xfrm>
            <a:off x="8074152" y="1417320"/>
            <a:ext cx="658368" cy="658368"/>
          </a:xfrm>
          <a:prstGeom prst="ellipse">
            <a:avLst/>
          </a:prstGeom>
          <a:solidFill>
            <a:srgbClr val="F59E0B"/>
          </a:solidFill>
          <a:ln w="12700">
            <a:solidFill>
              <a:srgbClr val="F59E0B"/>
            </a:solidFill>
            <a:prstDash val="solid"/>
          </a:ln>
        </p:spPr>
      </p:sp>
      <p:sp>
        <p:nvSpPr>
          <p:cNvPr id="20" name="Text 18"/>
          <p:cNvSpPr/>
          <p:nvPr/>
        </p:nvSpPr>
        <p:spPr>
          <a:xfrm>
            <a:off x="8074152" y="1572768"/>
            <a:ext cx="658368" cy="18288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21" name="Text 19"/>
          <p:cNvSpPr/>
          <p:nvPr/>
        </p:nvSpPr>
        <p:spPr>
          <a:xfrm>
            <a:off x="7543800" y="2286000"/>
            <a:ext cx="1737360" cy="274320"/>
          </a:xfrm>
          <a:prstGeom prst="rect">
            <a:avLst/>
          </a:prstGeom>
          <a:noFill/>
          <a:ln/>
        </p:spPr>
        <p:txBody>
          <a:bodyPr wrap="square" lIns="0" tIns="0" rIns="0" bIns="0" rtlCol="0" anchor="ctr"/>
          <a:lstStyle/>
          <a:p>
            <a:pPr algn="ctr" indent="0" marL="0">
              <a:buNone/>
            </a:pPr>
            <a:r>
              <a:rPr lang="en-US" sz="1400" b="1" dirty="0">
                <a:solidFill>
                  <a:srgbClr val="0F172A"/>
                </a:solidFill>
              </a:rPr>
              <a:t>PPO update</a:t>
            </a:r>
            <a:endParaRPr lang="en-US" sz="1400" dirty="0"/>
          </a:p>
        </p:txBody>
      </p:sp>
      <p:sp>
        <p:nvSpPr>
          <p:cNvPr id="22" name="Text 20"/>
          <p:cNvSpPr/>
          <p:nvPr/>
        </p:nvSpPr>
        <p:spPr>
          <a:xfrm>
            <a:off x="7543800" y="2697480"/>
            <a:ext cx="1737360" cy="685800"/>
          </a:xfrm>
          <a:prstGeom prst="rect">
            <a:avLst/>
          </a:prstGeom>
          <a:noFill/>
          <a:ln/>
        </p:spPr>
        <p:txBody>
          <a:bodyPr wrap="square" lIns="254" tIns="254" rIns="254" bIns="254" rtlCol="0" anchor="ctr">
            <a:normAutofit/>
          </a:bodyPr>
          <a:lstStyle/>
          <a:p>
            <a:pPr algn="ctr" indent="0" marL="0">
              <a:buNone/>
            </a:pPr>
            <a:r>
              <a:rPr lang="en-US" sz="1050" dirty="0">
                <a:solidFill>
                  <a:srgbClr val="64748B"/>
                </a:solidFill>
              </a:rPr>
              <a:t>ratio × advantage with clipping</a:t>
            </a:r>
            <a:endParaRPr lang="en-US" sz="1050" dirty="0"/>
          </a:p>
        </p:txBody>
      </p:sp>
      <p:sp>
        <p:nvSpPr>
          <p:cNvPr id="23" name="Shape 21"/>
          <p:cNvSpPr/>
          <p:nvPr/>
        </p:nvSpPr>
        <p:spPr>
          <a:xfrm>
            <a:off x="8842248" y="1755648"/>
            <a:ext cx="877824" cy="0"/>
          </a:xfrm>
          <a:prstGeom prst="line">
            <a:avLst/>
          </a:prstGeom>
          <a:noFill/>
          <a:ln w="25400">
            <a:solidFill>
              <a:srgbClr val="CBD5E1"/>
            </a:solidFill>
            <a:prstDash val="solid"/>
            <a:headEnd type="none"/>
            <a:tailEnd type="triangle"/>
          </a:ln>
        </p:spPr>
      </p:sp>
      <p:sp>
        <p:nvSpPr>
          <p:cNvPr id="24" name="Shape 22"/>
          <p:cNvSpPr/>
          <p:nvPr/>
        </p:nvSpPr>
        <p:spPr>
          <a:xfrm>
            <a:off x="10360152" y="1417320"/>
            <a:ext cx="658368" cy="658368"/>
          </a:xfrm>
          <a:prstGeom prst="ellipse">
            <a:avLst/>
          </a:prstGeom>
          <a:solidFill>
            <a:srgbClr val="0EA5A4"/>
          </a:solidFill>
          <a:ln w="12700">
            <a:solidFill>
              <a:srgbClr val="0EA5A4"/>
            </a:solidFill>
            <a:prstDash val="solid"/>
          </a:ln>
        </p:spPr>
      </p:sp>
      <p:sp>
        <p:nvSpPr>
          <p:cNvPr id="25" name="Text 23"/>
          <p:cNvSpPr/>
          <p:nvPr/>
        </p:nvSpPr>
        <p:spPr>
          <a:xfrm>
            <a:off x="10360152" y="1572768"/>
            <a:ext cx="658368" cy="182880"/>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26" name="Text 24"/>
          <p:cNvSpPr/>
          <p:nvPr/>
        </p:nvSpPr>
        <p:spPr>
          <a:xfrm>
            <a:off x="9829800" y="2286000"/>
            <a:ext cx="1737360" cy="274320"/>
          </a:xfrm>
          <a:prstGeom prst="rect">
            <a:avLst/>
          </a:prstGeom>
          <a:noFill/>
          <a:ln/>
        </p:spPr>
        <p:txBody>
          <a:bodyPr wrap="square" lIns="0" tIns="0" rIns="0" bIns="0" rtlCol="0" anchor="ctr"/>
          <a:lstStyle/>
          <a:p>
            <a:pPr algn="ctr" indent="0" marL="0">
              <a:buNone/>
            </a:pPr>
            <a:r>
              <a:rPr lang="en-US" sz="1400" b="1" dirty="0">
                <a:solidFill>
                  <a:srgbClr val="0F172A"/>
                </a:solidFill>
              </a:rPr>
              <a:t>Repeat</a:t>
            </a:r>
            <a:endParaRPr lang="en-US" sz="1400" dirty="0"/>
          </a:p>
        </p:txBody>
      </p:sp>
      <p:sp>
        <p:nvSpPr>
          <p:cNvPr id="27" name="Text 25"/>
          <p:cNvSpPr/>
          <p:nvPr/>
        </p:nvSpPr>
        <p:spPr>
          <a:xfrm>
            <a:off x="9829800" y="2697480"/>
            <a:ext cx="1737360" cy="685800"/>
          </a:xfrm>
          <a:prstGeom prst="rect">
            <a:avLst/>
          </a:prstGeom>
          <a:noFill/>
          <a:ln/>
        </p:spPr>
        <p:txBody>
          <a:bodyPr wrap="square" lIns="254" tIns="254" rIns="254" bIns="254" rtlCol="0" anchor="ctr">
            <a:normAutofit/>
          </a:bodyPr>
          <a:lstStyle/>
          <a:p>
            <a:pPr algn="ctr" indent="0" marL="0">
              <a:buNone/>
            </a:pPr>
            <a:r>
              <a:rPr lang="en-US" sz="1050" dirty="0">
                <a:solidFill>
                  <a:srgbClr val="64748B"/>
                </a:solidFill>
              </a:rPr>
              <a:t>new policy collects the next rollout</a:t>
            </a:r>
            <a:endParaRPr lang="en-US" sz="1050" dirty="0"/>
          </a:p>
        </p:txBody>
      </p:sp>
      <p:sp>
        <p:nvSpPr>
          <p:cNvPr id="28" name="Shape 26"/>
          <p:cNvSpPr/>
          <p:nvPr/>
        </p:nvSpPr>
        <p:spPr>
          <a:xfrm>
            <a:off x="1051560" y="4041648"/>
            <a:ext cx="10149840" cy="1051560"/>
          </a:xfrm>
          <a:prstGeom prst="roundRect">
            <a:avLst>
              <a:gd name="adj" fmla="val 4348"/>
            </a:avLst>
          </a:prstGeom>
          <a:solidFill>
            <a:srgbClr val="DBEAFE"/>
          </a:solidFill>
          <a:ln w="12700">
            <a:solidFill>
              <a:srgbClr val="93C5FD"/>
            </a:solidFill>
            <a:prstDash val="solid"/>
          </a:ln>
        </p:spPr>
      </p:sp>
      <p:sp>
        <p:nvSpPr>
          <p:cNvPr id="29" name="Text 27"/>
          <p:cNvSpPr/>
          <p:nvPr/>
        </p:nvSpPr>
        <p:spPr>
          <a:xfrm>
            <a:off x="1325880" y="4389120"/>
            <a:ext cx="9601200" cy="274320"/>
          </a:xfrm>
          <a:prstGeom prst="rect">
            <a:avLst/>
          </a:prstGeom>
          <a:noFill/>
          <a:ln/>
        </p:spPr>
        <p:txBody>
          <a:bodyPr wrap="square" lIns="0" tIns="0" rIns="0" bIns="0" rtlCol="0" anchor="ctr"/>
          <a:lstStyle/>
          <a:p>
            <a:pPr algn="ctr" indent="0" marL="0">
              <a:buNone/>
            </a:pPr>
            <a:r>
              <a:rPr lang="en-US" sz="1600" b="1" dirty="0">
                <a:solidFill>
                  <a:srgbClr val="1E3A8A"/>
                </a:solidFill>
              </a:rPr>
              <a:t>PPO clip range = 0.20  →  probability ratio is limited around 1.0 during the surrogate update</a:t>
            </a:r>
            <a:endParaRPr lang="en-US" sz="1600" dirty="0"/>
          </a:p>
        </p:txBody>
      </p:sp>
      <p:sp>
        <p:nvSpPr>
          <p:cNvPr id="30" name="Text 28"/>
          <p:cNvSpPr/>
          <p:nvPr/>
        </p:nvSpPr>
        <p:spPr>
          <a:xfrm>
            <a:off x="594360" y="6181344"/>
            <a:ext cx="10972800" cy="201168"/>
          </a:xfrm>
          <a:prstGeom prst="rect">
            <a:avLst/>
          </a:prstGeom>
          <a:noFill/>
          <a:ln/>
        </p:spPr>
        <p:txBody>
          <a:bodyPr wrap="square" lIns="0" tIns="0" rIns="0" bIns="0" rtlCol="0" anchor="ctr"/>
          <a:lstStyle/>
          <a:p>
            <a:pPr indent="0" marL="0">
              <a:buNone/>
            </a:pPr>
            <a:r>
              <a:rPr lang="en-US" sz="850" i="1" dirty="0">
                <a:solidFill>
                  <a:srgbClr val="64748B"/>
                </a:solidFill>
              </a:rPr>
              <a:t>PPO: Schulman et al. (2017). GAE: Schulman et al. (2015). Time limits: Pardo et al. (2018).</a:t>
            </a:r>
            <a:endParaRPr lang="en-US" sz="85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8138160" cy="411480"/>
          </a:xfrm>
          <a:prstGeom prst="rect">
            <a:avLst/>
          </a:prstGeom>
          <a:noFill/>
          <a:ln/>
        </p:spPr>
        <p:txBody>
          <a:bodyPr wrap="square" lIns="0" tIns="0" rIns="0" bIns="0" rtlCol="0" anchor="ctr"/>
          <a:lstStyle/>
          <a:p>
            <a:pPr indent="0" marL="0">
              <a:buNone/>
            </a:pPr>
            <a:r>
              <a:rPr lang="en-US" sz="2600" b="1" dirty="0">
                <a:solidFill>
                  <a:srgbClr val="0F172A"/>
                </a:solidFill>
                <a:latin typeface="Aptos Display" pitchFamily="34" charset="0"/>
                <a:ea typeface="Aptos Display" pitchFamily="34" charset="-122"/>
                <a:cs typeface="Aptos Display" pitchFamily="34" charset="-120"/>
              </a:rPr>
              <a:t>Actor–Critic Architecture</a:t>
            </a:r>
            <a:endParaRPr lang="en-US" sz="2600" dirty="0"/>
          </a:p>
        </p:txBody>
      </p:sp>
      <p:sp>
        <p:nvSpPr>
          <p:cNvPr id="3" name="Text 1"/>
          <p:cNvSpPr/>
          <p:nvPr/>
        </p:nvSpPr>
        <p:spPr>
          <a:xfrm>
            <a:off x="585216" y="822960"/>
            <a:ext cx="9875520" cy="274320"/>
          </a:xfrm>
          <a:prstGeom prst="rect">
            <a:avLst/>
          </a:prstGeom>
          <a:noFill/>
          <a:ln/>
        </p:spPr>
        <p:txBody>
          <a:bodyPr wrap="square" lIns="0" tIns="0" rIns="0" bIns="0" rtlCol="0" anchor="ctr"/>
          <a:lstStyle/>
          <a:p>
            <a:pPr indent="0" marL="0">
              <a:buNone/>
            </a:pPr>
            <a:r>
              <a:rPr lang="en-US" sz="1250" dirty="0">
                <a:solidFill>
                  <a:srgbClr val="64748B"/>
                </a:solidFill>
              </a:rPr>
              <a:t>Separate policy and value networks share the same 5-D observation</a:t>
            </a:r>
            <a:endParaRPr lang="en-US" sz="1250" dirty="0"/>
          </a:p>
        </p:txBody>
      </p:sp>
      <p:sp>
        <p:nvSpPr>
          <p:cNvPr id="4" name="Shape 2"/>
          <p:cNvSpPr/>
          <p:nvPr/>
        </p:nvSpPr>
        <p:spPr>
          <a:xfrm>
            <a:off x="777240" y="2148840"/>
            <a:ext cx="1463040" cy="960120"/>
          </a:xfrm>
          <a:prstGeom prst="roundRect">
            <a:avLst>
              <a:gd name="adj" fmla="val 4762"/>
            </a:avLst>
          </a:prstGeom>
          <a:solidFill>
            <a:srgbClr val="E2E8F0"/>
          </a:solidFill>
          <a:ln w="12700">
            <a:solidFill>
              <a:srgbClr val="CBD5E1"/>
            </a:solidFill>
            <a:prstDash val="solid"/>
          </a:ln>
        </p:spPr>
      </p:sp>
      <p:sp>
        <p:nvSpPr>
          <p:cNvPr id="5" name="Text 3"/>
          <p:cNvSpPr/>
          <p:nvPr/>
        </p:nvSpPr>
        <p:spPr>
          <a:xfrm>
            <a:off x="987552" y="2496312"/>
            <a:ext cx="1051560" cy="228600"/>
          </a:xfrm>
          <a:prstGeom prst="rect">
            <a:avLst/>
          </a:prstGeom>
          <a:noFill/>
          <a:ln/>
        </p:spPr>
        <p:txBody>
          <a:bodyPr wrap="square" lIns="0" tIns="0" rIns="0" bIns="0" rtlCol="0" anchor="ctr"/>
          <a:lstStyle/>
          <a:p>
            <a:pPr algn="ctr" indent="0" marL="0">
              <a:buNone/>
            </a:pPr>
            <a:r>
              <a:rPr lang="en-US" sz="1700" b="1" dirty="0">
                <a:solidFill>
                  <a:srgbClr val="0F172A"/>
                </a:solidFill>
              </a:rPr>
              <a:t>5-D state</a:t>
            </a:r>
            <a:endParaRPr lang="en-US" sz="1700" dirty="0"/>
          </a:p>
        </p:txBody>
      </p:sp>
      <p:sp>
        <p:nvSpPr>
          <p:cNvPr id="6" name="Shape 4"/>
          <p:cNvSpPr/>
          <p:nvPr/>
        </p:nvSpPr>
        <p:spPr>
          <a:xfrm>
            <a:off x="2240280" y="2633472"/>
            <a:ext cx="914400" cy="0"/>
          </a:xfrm>
          <a:prstGeom prst="line">
            <a:avLst/>
          </a:prstGeom>
          <a:noFill/>
          <a:ln w="25400">
            <a:solidFill>
              <a:srgbClr val="64748B"/>
            </a:solidFill>
            <a:prstDash val="solid"/>
            <a:headEnd type="none"/>
            <a:tailEnd type="triangle"/>
          </a:ln>
        </p:spPr>
      </p:sp>
      <p:sp>
        <p:nvSpPr>
          <p:cNvPr id="7" name="Shape 5"/>
          <p:cNvSpPr/>
          <p:nvPr/>
        </p:nvSpPr>
        <p:spPr>
          <a:xfrm>
            <a:off x="3154680" y="1143000"/>
            <a:ext cx="4572000" cy="1508760"/>
          </a:xfrm>
          <a:prstGeom prst="roundRect">
            <a:avLst>
              <a:gd name="adj" fmla="val 3030"/>
            </a:avLst>
          </a:prstGeom>
          <a:solidFill>
            <a:srgbClr val="CCFBF1"/>
          </a:solidFill>
          <a:ln w="15240">
            <a:solidFill>
              <a:srgbClr val="0EA5A4"/>
            </a:solidFill>
            <a:prstDash val="solid"/>
          </a:ln>
        </p:spPr>
      </p:sp>
      <p:sp>
        <p:nvSpPr>
          <p:cNvPr id="8" name="Text 6"/>
          <p:cNvSpPr/>
          <p:nvPr/>
        </p:nvSpPr>
        <p:spPr>
          <a:xfrm>
            <a:off x="3401568" y="1353312"/>
            <a:ext cx="822960" cy="228600"/>
          </a:xfrm>
          <a:prstGeom prst="rect">
            <a:avLst/>
          </a:prstGeom>
          <a:noFill/>
          <a:ln/>
        </p:spPr>
        <p:txBody>
          <a:bodyPr wrap="square" lIns="0" tIns="0" rIns="0" bIns="0" rtlCol="0" anchor="ctr"/>
          <a:lstStyle/>
          <a:p>
            <a:pPr indent="0" marL="0">
              <a:buNone/>
            </a:pPr>
            <a:r>
              <a:rPr lang="en-US" sz="1600" b="1" dirty="0">
                <a:solidFill>
                  <a:srgbClr val="115E59"/>
                </a:solidFill>
              </a:rPr>
              <a:t>ACTOR</a:t>
            </a:r>
            <a:endParaRPr lang="en-US" sz="1600" dirty="0"/>
          </a:p>
        </p:txBody>
      </p:sp>
      <p:sp>
        <p:nvSpPr>
          <p:cNvPr id="9" name="Text 7"/>
          <p:cNvSpPr/>
          <p:nvPr/>
        </p:nvSpPr>
        <p:spPr>
          <a:xfrm>
            <a:off x="4343400" y="1298448"/>
            <a:ext cx="3063240" cy="685800"/>
          </a:xfrm>
          <a:prstGeom prst="rect">
            <a:avLst/>
          </a:prstGeom>
          <a:noFill/>
          <a:ln/>
        </p:spPr>
        <p:txBody>
          <a:bodyPr wrap="square" lIns="254" tIns="254" rIns="254" bIns="254" rtlCol="0" anchor="ctr"/>
          <a:lstStyle/>
          <a:p>
            <a:pPr indent="0" marL="0">
              <a:buNone/>
            </a:pPr>
            <a:r>
              <a:rPr lang="en-US" sz="1250" dirty="0">
                <a:solidFill>
                  <a:srgbClr val="334155"/>
                </a:solidFill>
              </a:rPr>
              <a:t>Linear 5→64 → Tanh → 64 → Tanh → action mean</a:t>
            </a:r>
            <a:endParaRPr lang="en-US" sz="1250" dirty="0"/>
          </a:p>
          <a:p>
            <a:pPr indent="0" marL="0">
              <a:buNone/>
            </a:pPr>
            <a:r>
              <a:rPr lang="en-US" sz="1250" dirty="0">
                <a:solidFill>
                  <a:srgbClr val="334155"/>
                </a:solidFill>
              </a:rPr>
              <a:t>Learnable log σ controls Gaussian exploration</a:t>
            </a:r>
            <a:endParaRPr lang="en-US" sz="1250" dirty="0"/>
          </a:p>
        </p:txBody>
      </p:sp>
      <p:sp>
        <p:nvSpPr>
          <p:cNvPr id="10" name="Shape 8"/>
          <p:cNvSpPr/>
          <p:nvPr/>
        </p:nvSpPr>
        <p:spPr>
          <a:xfrm>
            <a:off x="7726680" y="1883664"/>
            <a:ext cx="731520" cy="0"/>
          </a:xfrm>
          <a:prstGeom prst="line">
            <a:avLst/>
          </a:prstGeom>
          <a:noFill/>
          <a:ln w="25400">
            <a:solidFill>
              <a:srgbClr val="0EA5A4"/>
            </a:solidFill>
            <a:prstDash val="solid"/>
            <a:headEnd type="none"/>
            <a:tailEnd type="triangle"/>
          </a:ln>
        </p:spPr>
      </p:sp>
      <p:sp>
        <p:nvSpPr>
          <p:cNvPr id="11" name="Shape 9"/>
          <p:cNvSpPr/>
          <p:nvPr/>
        </p:nvSpPr>
        <p:spPr>
          <a:xfrm>
            <a:off x="8458200" y="1298448"/>
            <a:ext cx="2514600" cy="1051560"/>
          </a:xfrm>
          <a:prstGeom prst="roundRect">
            <a:avLst>
              <a:gd name="adj" fmla="val 4348"/>
            </a:avLst>
          </a:prstGeom>
          <a:solidFill>
            <a:srgbClr val="FFFFFF"/>
          </a:solidFill>
          <a:ln w="12700">
            <a:solidFill>
              <a:srgbClr val="0EA5A4"/>
            </a:solidFill>
            <a:prstDash val="solid"/>
          </a:ln>
        </p:spPr>
      </p:sp>
      <p:sp>
        <p:nvSpPr>
          <p:cNvPr id="12" name="Text 10"/>
          <p:cNvSpPr/>
          <p:nvPr/>
        </p:nvSpPr>
        <p:spPr>
          <a:xfrm>
            <a:off x="8641080" y="1572768"/>
            <a:ext cx="2148840" cy="475488"/>
          </a:xfrm>
          <a:prstGeom prst="rect">
            <a:avLst/>
          </a:prstGeom>
          <a:noFill/>
          <a:ln/>
        </p:spPr>
        <p:txBody>
          <a:bodyPr wrap="square" lIns="0" tIns="0" rIns="0" bIns="0" rtlCol="0" anchor="ctr"/>
          <a:lstStyle/>
          <a:p>
            <a:pPr algn="ctr" indent="0" marL="0">
              <a:buNone/>
            </a:pPr>
            <a:r>
              <a:rPr lang="en-US" sz="1500" b="1" dirty="0">
                <a:solidFill>
                  <a:srgbClr val="0F172A"/>
                </a:solidFill>
              </a:rPr>
              <a:t>Gaussian policy</a:t>
            </a:r>
            <a:endParaRPr lang="en-US" sz="1500" dirty="0"/>
          </a:p>
          <a:p>
            <a:pPr algn="ctr" indent="0" marL="0">
              <a:buNone/>
            </a:pPr>
            <a:r>
              <a:rPr lang="en-US" sz="1500" b="1" dirty="0">
                <a:solidFill>
                  <a:srgbClr val="0F172A"/>
                </a:solidFill>
              </a:rPr>
              <a:t>→ torque action</a:t>
            </a:r>
            <a:endParaRPr lang="en-US" sz="1500" dirty="0"/>
          </a:p>
        </p:txBody>
      </p:sp>
      <p:sp>
        <p:nvSpPr>
          <p:cNvPr id="13" name="Shape 11"/>
          <p:cNvSpPr/>
          <p:nvPr/>
        </p:nvSpPr>
        <p:spPr>
          <a:xfrm>
            <a:off x="3154680" y="3337560"/>
            <a:ext cx="4572000" cy="1508760"/>
          </a:xfrm>
          <a:prstGeom prst="roundRect">
            <a:avLst>
              <a:gd name="adj" fmla="val 3030"/>
            </a:avLst>
          </a:prstGeom>
          <a:solidFill>
            <a:srgbClr val="DBEAFE"/>
          </a:solidFill>
          <a:ln w="15240">
            <a:solidFill>
              <a:srgbClr val="2563EB"/>
            </a:solidFill>
            <a:prstDash val="solid"/>
          </a:ln>
        </p:spPr>
      </p:sp>
      <p:sp>
        <p:nvSpPr>
          <p:cNvPr id="14" name="Text 12"/>
          <p:cNvSpPr/>
          <p:nvPr/>
        </p:nvSpPr>
        <p:spPr>
          <a:xfrm>
            <a:off x="3401568" y="3547872"/>
            <a:ext cx="822960" cy="228600"/>
          </a:xfrm>
          <a:prstGeom prst="rect">
            <a:avLst/>
          </a:prstGeom>
          <a:noFill/>
          <a:ln/>
        </p:spPr>
        <p:txBody>
          <a:bodyPr wrap="square" lIns="0" tIns="0" rIns="0" bIns="0" rtlCol="0" anchor="ctr"/>
          <a:lstStyle/>
          <a:p>
            <a:pPr indent="0" marL="0">
              <a:buNone/>
            </a:pPr>
            <a:r>
              <a:rPr lang="en-US" sz="1600" b="1" dirty="0">
                <a:solidFill>
                  <a:srgbClr val="1E40AF"/>
                </a:solidFill>
              </a:rPr>
              <a:t>CRITIC</a:t>
            </a:r>
            <a:endParaRPr lang="en-US" sz="1600" dirty="0"/>
          </a:p>
        </p:txBody>
      </p:sp>
      <p:sp>
        <p:nvSpPr>
          <p:cNvPr id="15" name="Text 13"/>
          <p:cNvSpPr/>
          <p:nvPr/>
        </p:nvSpPr>
        <p:spPr>
          <a:xfrm>
            <a:off x="4343400" y="3493008"/>
            <a:ext cx="3063240" cy="685800"/>
          </a:xfrm>
          <a:prstGeom prst="rect">
            <a:avLst/>
          </a:prstGeom>
          <a:noFill/>
          <a:ln/>
        </p:spPr>
        <p:txBody>
          <a:bodyPr wrap="square" lIns="254" tIns="254" rIns="254" bIns="254" rtlCol="0" anchor="ctr"/>
          <a:lstStyle/>
          <a:p>
            <a:pPr indent="0" marL="0">
              <a:buNone/>
            </a:pPr>
            <a:r>
              <a:rPr lang="en-US" sz="1250" dirty="0">
                <a:solidFill>
                  <a:srgbClr val="334155"/>
                </a:solidFill>
              </a:rPr>
              <a:t>Linear 5→64 → Tanh → 64 → Tanh → scalar value</a:t>
            </a:r>
            <a:endParaRPr lang="en-US" sz="1250" dirty="0"/>
          </a:p>
          <a:p>
            <a:pPr indent="0" marL="0">
              <a:buNone/>
            </a:pPr>
            <a:r>
              <a:rPr lang="en-US" sz="1250" dirty="0">
                <a:solidFill>
                  <a:srgbClr val="334155"/>
                </a:solidFill>
              </a:rPr>
              <a:t>V(s) estimates expected discounted return</a:t>
            </a:r>
            <a:endParaRPr lang="en-US" sz="1250" dirty="0"/>
          </a:p>
        </p:txBody>
      </p:sp>
      <p:sp>
        <p:nvSpPr>
          <p:cNvPr id="16" name="Shape 14"/>
          <p:cNvSpPr/>
          <p:nvPr/>
        </p:nvSpPr>
        <p:spPr>
          <a:xfrm>
            <a:off x="7726680" y="4078224"/>
            <a:ext cx="731520" cy="0"/>
          </a:xfrm>
          <a:prstGeom prst="line">
            <a:avLst/>
          </a:prstGeom>
          <a:noFill/>
          <a:ln w="25400">
            <a:solidFill>
              <a:srgbClr val="2563EB"/>
            </a:solidFill>
            <a:prstDash val="solid"/>
            <a:headEnd type="none"/>
            <a:tailEnd type="triangle"/>
          </a:ln>
        </p:spPr>
      </p:sp>
      <p:sp>
        <p:nvSpPr>
          <p:cNvPr id="17" name="Shape 15"/>
          <p:cNvSpPr/>
          <p:nvPr/>
        </p:nvSpPr>
        <p:spPr>
          <a:xfrm>
            <a:off x="8458200" y="3493008"/>
            <a:ext cx="2514600" cy="1051560"/>
          </a:xfrm>
          <a:prstGeom prst="roundRect">
            <a:avLst>
              <a:gd name="adj" fmla="val 4348"/>
            </a:avLst>
          </a:prstGeom>
          <a:solidFill>
            <a:srgbClr val="FFFFFF"/>
          </a:solidFill>
          <a:ln w="12700">
            <a:solidFill>
              <a:srgbClr val="2563EB"/>
            </a:solidFill>
            <a:prstDash val="solid"/>
          </a:ln>
        </p:spPr>
      </p:sp>
      <p:sp>
        <p:nvSpPr>
          <p:cNvPr id="18" name="Text 16"/>
          <p:cNvSpPr/>
          <p:nvPr/>
        </p:nvSpPr>
        <p:spPr>
          <a:xfrm>
            <a:off x="8641080" y="3767328"/>
            <a:ext cx="2148840" cy="475488"/>
          </a:xfrm>
          <a:prstGeom prst="rect">
            <a:avLst/>
          </a:prstGeom>
          <a:noFill/>
          <a:ln/>
        </p:spPr>
        <p:txBody>
          <a:bodyPr wrap="square" lIns="0" tIns="0" rIns="0" bIns="0" rtlCol="0" anchor="ctr"/>
          <a:lstStyle/>
          <a:p>
            <a:pPr algn="ctr" indent="0" marL="0">
              <a:buNone/>
            </a:pPr>
            <a:r>
              <a:rPr lang="en-US" sz="1500" b="1" dirty="0">
                <a:solidFill>
                  <a:srgbClr val="0F172A"/>
                </a:solidFill>
              </a:rPr>
              <a:t>Value estimate</a:t>
            </a:r>
            <a:endParaRPr lang="en-US" sz="1500" dirty="0"/>
          </a:p>
          <a:p>
            <a:pPr algn="ctr" indent="0" marL="0">
              <a:buNone/>
            </a:pPr>
            <a:r>
              <a:rPr lang="en-US" sz="1500" b="1" dirty="0">
                <a:solidFill>
                  <a:srgbClr val="0F172A"/>
                </a:solidFill>
              </a:rPr>
              <a:t>→ GAE baseline</a:t>
            </a:r>
            <a:endParaRPr lang="en-US" sz="150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84048"/>
            <a:ext cx="8138160" cy="411480"/>
          </a:xfrm>
          <a:prstGeom prst="rect">
            <a:avLst/>
          </a:prstGeom>
          <a:noFill/>
          <a:ln/>
        </p:spPr>
        <p:txBody>
          <a:bodyPr wrap="square" lIns="0" tIns="0" rIns="0" bIns="0" rtlCol="0" anchor="ctr"/>
          <a:lstStyle/>
          <a:p>
            <a:pPr indent="0" marL="0">
              <a:buNone/>
            </a:pPr>
            <a:r>
              <a:rPr lang="en-US" sz="2600" b="1" dirty="0">
                <a:solidFill>
                  <a:srgbClr val="0F172A"/>
                </a:solidFill>
                <a:latin typeface="Aptos Display" pitchFamily="34" charset="0"/>
                <a:ea typeface="Aptos Display" pitchFamily="34" charset="-122"/>
                <a:cs typeface="Aptos Display" pitchFamily="34" charset="-120"/>
              </a:rPr>
              <a:t>Implementation and Training Configuration</a:t>
            </a:r>
            <a:endParaRPr lang="en-US" sz="2600" dirty="0"/>
          </a:p>
        </p:txBody>
      </p:sp>
      <p:sp>
        <p:nvSpPr>
          <p:cNvPr id="3" name="Text 1"/>
          <p:cNvSpPr/>
          <p:nvPr/>
        </p:nvSpPr>
        <p:spPr>
          <a:xfrm>
            <a:off x="585216" y="822960"/>
            <a:ext cx="9875520" cy="274320"/>
          </a:xfrm>
          <a:prstGeom prst="rect">
            <a:avLst/>
          </a:prstGeom>
          <a:noFill/>
          <a:ln/>
        </p:spPr>
        <p:txBody>
          <a:bodyPr wrap="square" lIns="0" tIns="0" rIns="0" bIns="0" rtlCol="0" anchor="ctr"/>
          <a:lstStyle/>
          <a:p>
            <a:pPr indent="0" marL="0">
              <a:buNone/>
            </a:pPr>
            <a:r>
              <a:rPr lang="en-US" sz="1250" dirty="0">
                <a:solidFill>
                  <a:srgbClr val="64748B"/>
                </a:solidFill>
              </a:rPr>
              <a:t>Python + PyTorch + NumPy + Matplotlib + Gym-style API</a:t>
            </a:r>
            <a:endParaRPr lang="en-US" sz="1250" dirty="0"/>
          </a:p>
        </p:txBody>
      </p:sp>
      <p:sp>
        <p:nvSpPr>
          <p:cNvPr id="4" name="Shape 2"/>
          <p:cNvSpPr/>
          <p:nvPr/>
        </p:nvSpPr>
        <p:spPr>
          <a:xfrm>
            <a:off x="731520" y="1234440"/>
            <a:ext cx="2926080" cy="1005840"/>
          </a:xfrm>
          <a:prstGeom prst="roundRect">
            <a:avLst>
              <a:gd name="adj" fmla="val 6364"/>
            </a:avLst>
          </a:prstGeom>
          <a:solidFill>
            <a:srgbClr val="FFFFFF"/>
          </a:solidFill>
          <a:ln w="12700">
            <a:solidFill>
              <a:srgbClr val="E2E8F0"/>
            </a:solidFill>
            <a:prstDash val="solid"/>
          </a:ln>
        </p:spPr>
      </p:sp>
      <p:sp>
        <p:nvSpPr>
          <p:cNvPr id="5" name="Shape 3"/>
          <p:cNvSpPr/>
          <p:nvPr/>
        </p:nvSpPr>
        <p:spPr>
          <a:xfrm>
            <a:off x="731520" y="1234440"/>
            <a:ext cx="73152" cy="1005840"/>
          </a:xfrm>
          <a:prstGeom prst="rect">
            <a:avLst/>
          </a:prstGeom>
          <a:solidFill>
            <a:srgbClr val="0EA5A4"/>
          </a:solidFill>
          <a:ln w="12700">
            <a:solidFill>
              <a:srgbClr val="0EA5A4"/>
            </a:solidFill>
            <a:prstDash val="solid"/>
          </a:ln>
        </p:spPr>
      </p:sp>
      <p:sp>
        <p:nvSpPr>
          <p:cNvPr id="6" name="Text 4"/>
          <p:cNvSpPr/>
          <p:nvPr/>
        </p:nvSpPr>
        <p:spPr>
          <a:xfrm>
            <a:off x="932688" y="1399032"/>
            <a:ext cx="2615184" cy="274320"/>
          </a:xfrm>
          <a:prstGeom prst="rect">
            <a:avLst/>
          </a:prstGeom>
          <a:noFill/>
          <a:ln/>
        </p:spPr>
        <p:txBody>
          <a:bodyPr wrap="square" lIns="0" tIns="0" rIns="0" bIns="0" rtlCol="0" anchor="ctr"/>
          <a:lstStyle/>
          <a:p>
            <a:pPr indent="0" marL="0">
              <a:buNone/>
            </a:pPr>
            <a:r>
              <a:rPr lang="en-US" sz="1600" b="1" dirty="0">
                <a:solidFill>
                  <a:srgbClr val="0F172A"/>
                </a:solidFill>
              </a:rPr>
              <a:t>PyTorch</a:t>
            </a:r>
            <a:endParaRPr lang="en-US" sz="1600" dirty="0"/>
          </a:p>
        </p:txBody>
      </p:sp>
      <p:sp>
        <p:nvSpPr>
          <p:cNvPr id="7" name="Text 5"/>
          <p:cNvSpPr/>
          <p:nvPr/>
        </p:nvSpPr>
        <p:spPr>
          <a:xfrm>
            <a:off x="932688" y="1764792"/>
            <a:ext cx="2578608" cy="34747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Actor, critic, Gaussian distribution, Adam optimizer</a:t>
            </a:r>
            <a:endParaRPr lang="en-US" sz="1200" dirty="0"/>
          </a:p>
        </p:txBody>
      </p:sp>
      <p:sp>
        <p:nvSpPr>
          <p:cNvPr id="8" name="Shape 6"/>
          <p:cNvSpPr/>
          <p:nvPr/>
        </p:nvSpPr>
        <p:spPr>
          <a:xfrm>
            <a:off x="731520" y="2468880"/>
            <a:ext cx="2926080" cy="1005840"/>
          </a:xfrm>
          <a:prstGeom prst="roundRect">
            <a:avLst>
              <a:gd name="adj" fmla="val 6364"/>
            </a:avLst>
          </a:prstGeom>
          <a:solidFill>
            <a:srgbClr val="FFFFFF"/>
          </a:solidFill>
          <a:ln w="12700">
            <a:solidFill>
              <a:srgbClr val="E2E8F0"/>
            </a:solidFill>
            <a:prstDash val="solid"/>
          </a:ln>
        </p:spPr>
      </p:sp>
      <p:sp>
        <p:nvSpPr>
          <p:cNvPr id="9" name="Shape 7"/>
          <p:cNvSpPr/>
          <p:nvPr/>
        </p:nvSpPr>
        <p:spPr>
          <a:xfrm>
            <a:off x="731520" y="2468880"/>
            <a:ext cx="73152" cy="1005840"/>
          </a:xfrm>
          <a:prstGeom prst="rect">
            <a:avLst/>
          </a:prstGeom>
          <a:solidFill>
            <a:srgbClr val="2563EB"/>
          </a:solidFill>
          <a:ln w="12700">
            <a:solidFill>
              <a:srgbClr val="2563EB"/>
            </a:solidFill>
            <a:prstDash val="solid"/>
          </a:ln>
        </p:spPr>
      </p:sp>
      <p:sp>
        <p:nvSpPr>
          <p:cNvPr id="10" name="Text 8"/>
          <p:cNvSpPr/>
          <p:nvPr/>
        </p:nvSpPr>
        <p:spPr>
          <a:xfrm>
            <a:off x="932688" y="2633472"/>
            <a:ext cx="2615184" cy="274320"/>
          </a:xfrm>
          <a:prstGeom prst="rect">
            <a:avLst/>
          </a:prstGeom>
          <a:noFill/>
          <a:ln/>
        </p:spPr>
        <p:txBody>
          <a:bodyPr wrap="square" lIns="0" tIns="0" rIns="0" bIns="0" rtlCol="0" anchor="ctr"/>
          <a:lstStyle/>
          <a:p>
            <a:pPr indent="0" marL="0">
              <a:buNone/>
            </a:pPr>
            <a:r>
              <a:rPr lang="en-US" sz="1600" b="1" dirty="0">
                <a:solidFill>
                  <a:srgbClr val="0F172A"/>
                </a:solidFill>
              </a:rPr>
              <a:t>NumPy</a:t>
            </a:r>
            <a:endParaRPr lang="en-US" sz="1600" dirty="0"/>
          </a:p>
        </p:txBody>
      </p:sp>
      <p:sp>
        <p:nvSpPr>
          <p:cNvPr id="11" name="Text 9"/>
          <p:cNvSpPr/>
          <p:nvPr/>
        </p:nvSpPr>
        <p:spPr>
          <a:xfrm>
            <a:off x="932688" y="2999232"/>
            <a:ext cx="2578608" cy="34747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Environment math, buffers, advantages, shuffling</a:t>
            </a:r>
            <a:endParaRPr lang="en-US" sz="1200" dirty="0"/>
          </a:p>
        </p:txBody>
      </p:sp>
      <p:sp>
        <p:nvSpPr>
          <p:cNvPr id="12" name="Shape 10"/>
          <p:cNvSpPr/>
          <p:nvPr/>
        </p:nvSpPr>
        <p:spPr>
          <a:xfrm>
            <a:off x="731520" y="3703320"/>
            <a:ext cx="2926080" cy="1005840"/>
          </a:xfrm>
          <a:prstGeom prst="roundRect">
            <a:avLst>
              <a:gd name="adj" fmla="val 6364"/>
            </a:avLst>
          </a:prstGeom>
          <a:solidFill>
            <a:srgbClr val="FFFFFF"/>
          </a:solidFill>
          <a:ln w="12700">
            <a:solidFill>
              <a:srgbClr val="E2E8F0"/>
            </a:solidFill>
            <a:prstDash val="solid"/>
          </a:ln>
        </p:spPr>
      </p:sp>
      <p:sp>
        <p:nvSpPr>
          <p:cNvPr id="13" name="Shape 11"/>
          <p:cNvSpPr/>
          <p:nvPr/>
        </p:nvSpPr>
        <p:spPr>
          <a:xfrm>
            <a:off x="731520" y="3703320"/>
            <a:ext cx="73152" cy="1005840"/>
          </a:xfrm>
          <a:prstGeom prst="rect">
            <a:avLst/>
          </a:prstGeom>
          <a:solidFill>
            <a:srgbClr val="F59E0B"/>
          </a:solidFill>
          <a:ln w="12700">
            <a:solidFill>
              <a:srgbClr val="F59E0B"/>
            </a:solidFill>
            <a:prstDash val="solid"/>
          </a:ln>
        </p:spPr>
      </p:sp>
      <p:sp>
        <p:nvSpPr>
          <p:cNvPr id="14" name="Text 12"/>
          <p:cNvSpPr/>
          <p:nvPr/>
        </p:nvSpPr>
        <p:spPr>
          <a:xfrm>
            <a:off x="932688" y="3867912"/>
            <a:ext cx="2615184" cy="274320"/>
          </a:xfrm>
          <a:prstGeom prst="rect">
            <a:avLst/>
          </a:prstGeom>
          <a:noFill/>
          <a:ln/>
        </p:spPr>
        <p:txBody>
          <a:bodyPr wrap="square" lIns="0" tIns="0" rIns="0" bIns="0" rtlCol="0" anchor="ctr"/>
          <a:lstStyle/>
          <a:p>
            <a:pPr indent="0" marL="0">
              <a:buNone/>
            </a:pPr>
            <a:r>
              <a:rPr lang="en-US" sz="1600" b="1" dirty="0">
                <a:solidFill>
                  <a:srgbClr val="0F172A"/>
                </a:solidFill>
              </a:rPr>
              <a:t>Matplotlib</a:t>
            </a:r>
            <a:endParaRPr lang="en-US" sz="1600" dirty="0"/>
          </a:p>
        </p:txBody>
      </p:sp>
      <p:sp>
        <p:nvSpPr>
          <p:cNvPr id="15" name="Text 13"/>
          <p:cNvSpPr/>
          <p:nvPr/>
        </p:nvSpPr>
        <p:spPr>
          <a:xfrm>
            <a:off x="932688" y="4233672"/>
            <a:ext cx="2578608" cy="34747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Reward, diagnostics, ablation, and demo video</a:t>
            </a:r>
            <a:endParaRPr lang="en-US" sz="1200" dirty="0"/>
          </a:p>
        </p:txBody>
      </p:sp>
      <p:sp>
        <p:nvSpPr>
          <p:cNvPr id="16" name="Shape 14"/>
          <p:cNvSpPr/>
          <p:nvPr/>
        </p:nvSpPr>
        <p:spPr>
          <a:xfrm>
            <a:off x="4069080" y="1234440"/>
            <a:ext cx="7315200" cy="4297680"/>
          </a:xfrm>
          <a:prstGeom prst="roundRect">
            <a:avLst>
              <a:gd name="adj" fmla="val 1064"/>
            </a:avLst>
          </a:prstGeom>
          <a:solidFill>
            <a:srgbClr val="FFFFFF"/>
          </a:solidFill>
          <a:ln w="12700">
            <a:solidFill>
              <a:srgbClr val="E2E8F0"/>
            </a:solidFill>
            <a:prstDash val="solid"/>
          </a:ln>
        </p:spPr>
      </p:sp>
      <p:sp>
        <p:nvSpPr>
          <p:cNvPr id="17" name="Shape 15"/>
          <p:cNvSpPr/>
          <p:nvPr/>
        </p:nvSpPr>
        <p:spPr>
          <a:xfrm>
            <a:off x="4297680" y="1463040"/>
            <a:ext cx="6858000" cy="384048"/>
          </a:xfrm>
          <a:prstGeom prst="rect">
            <a:avLst/>
          </a:prstGeom>
          <a:solidFill>
            <a:srgbClr val="F8FAFC"/>
          </a:solidFill>
          <a:ln w="12700">
            <a:solidFill>
              <a:srgbClr val="F8FAFC"/>
            </a:solidFill>
            <a:prstDash val="solid"/>
          </a:ln>
        </p:spPr>
      </p:sp>
      <p:sp>
        <p:nvSpPr>
          <p:cNvPr id="18" name="Text 16"/>
          <p:cNvSpPr/>
          <p:nvPr/>
        </p:nvSpPr>
        <p:spPr>
          <a:xfrm>
            <a:off x="4480560" y="1536192"/>
            <a:ext cx="3383280" cy="201168"/>
          </a:xfrm>
          <a:prstGeom prst="rect">
            <a:avLst/>
          </a:prstGeom>
          <a:noFill/>
          <a:ln/>
        </p:spPr>
        <p:txBody>
          <a:bodyPr wrap="square" lIns="0" tIns="0" rIns="0" bIns="0" rtlCol="0" anchor="ctr"/>
          <a:lstStyle/>
          <a:p>
            <a:pPr indent="0" marL="0">
              <a:buNone/>
            </a:pPr>
            <a:r>
              <a:rPr lang="en-US" sz="1250" dirty="0">
                <a:solidFill>
                  <a:srgbClr val="334155"/>
                </a:solidFill>
              </a:rPr>
              <a:t>Total steps</a:t>
            </a:r>
            <a:endParaRPr lang="en-US" sz="1250" dirty="0"/>
          </a:p>
        </p:txBody>
      </p:sp>
      <p:sp>
        <p:nvSpPr>
          <p:cNvPr id="19" name="Text 17"/>
          <p:cNvSpPr/>
          <p:nvPr/>
        </p:nvSpPr>
        <p:spPr>
          <a:xfrm>
            <a:off x="8503920" y="1536192"/>
            <a:ext cx="2377440" cy="201168"/>
          </a:xfrm>
          <a:prstGeom prst="rect">
            <a:avLst/>
          </a:prstGeom>
          <a:noFill/>
          <a:ln/>
        </p:spPr>
        <p:txBody>
          <a:bodyPr wrap="square" lIns="0" tIns="0" rIns="0" bIns="0" rtlCol="0" anchor="ctr"/>
          <a:lstStyle/>
          <a:p>
            <a:pPr algn="r" indent="0" marL="0">
              <a:buNone/>
            </a:pPr>
            <a:r>
              <a:rPr lang="en-US" sz="1250" b="1" dirty="0">
                <a:solidFill>
                  <a:srgbClr val="0F172A"/>
                </a:solidFill>
              </a:rPr>
              <a:t>204,800</a:t>
            </a:r>
            <a:endParaRPr lang="en-US" sz="1250" dirty="0"/>
          </a:p>
        </p:txBody>
      </p:sp>
      <p:sp>
        <p:nvSpPr>
          <p:cNvPr id="20" name="Text 18"/>
          <p:cNvSpPr/>
          <p:nvPr/>
        </p:nvSpPr>
        <p:spPr>
          <a:xfrm>
            <a:off x="4480560" y="1975104"/>
            <a:ext cx="3383280" cy="201168"/>
          </a:xfrm>
          <a:prstGeom prst="rect">
            <a:avLst/>
          </a:prstGeom>
          <a:noFill/>
          <a:ln/>
        </p:spPr>
        <p:txBody>
          <a:bodyPr wrap="square" lIns="0" tIns="0" rIns="0" bIns="0" rtlCol="0" anchor="ctr"/>
          <a:lstStyle/>
          <a:p>
            <a:pPr indent="0" marL="0">
              <a:buNone/>
            </a:pPr>
            <a:r>
              <a:rPr lang="en-US" sz="1250" dirty="0">
                <a:solidFill>
                  <a:srgbClr val="334155"/>
                </a:solidFill>
              </a:rPr>
              <a:t>Rollout steps</a:t>
            </a:r>
            <a:endParaRPr lang="en-US" sz="1250" dirty="0"/>
          </a:p>
        </p:txBody>
      </p:sp>
      <p:sp>
        <p:nvSpPr>
          <p:cNvPr id="21" name="Text 19"/>
          <p:cNvSpPr/>
          <p:nvPr/>
        </p:nvSpPr>
        <p:spPr>
          <a:xfrm>
            <a:off x="8503920" y="1975104"/>
            <a:ext cx="2377440" cy="201168"/>
          </a:xfrm>
          <a:prstGeom prst="rect">
            <a:avLst/>
          </a:prstGeom>
          <a:noFill/>
          <a:ln/>
        </p:spPr>
        <p:txBody>
          <a:bodyPr wrap="square" lIns="0" tIns="0" rIns="0" bIns="0" rtlCol="0" anchor="ctr"/>
          <a:lstStyle/>
          <a:p>
            <a:pPr algn="r" indent="0" marL="0">
              <a:buNone/>
            </a:pPr>
            <a:r>
              <a:rPr lang="en-US" sz="1250" b="1" dirty="0">
                <a:solidFill>
                  <a:srgbClr val="0F172A"/>
                </a:solidFill>
              </a:rPr>
              <a:t>512</a:t>
            </a:r>
            <a:endParaRPr lang="en-US" sz="1250" dirty="0"/>
          </a:p>
        </p:txBody>
      </p:sp>
      <p:sp>
        <p:nvSpPr>
          <p:cNvPr id="22" name="Shape 20"/>
          <p:cNvSpPr/>
          <p:nvPr/>
        </p:nvSpPr>
        <p:spPr>
          <a:xfrm>
            <a:off x="4297680" y="2340864"/>
            <a:ext cx="6858000" cy="384048"/>
          </a:xfrm>
          <a:prstGeom prst="rect">
            <a:avLst/>
          </a:prstGeom>
          <a:solidFill>
            <a:srgbClr val="F8FAFC"/>
          </a:solidFill>
          <a:ln w="12700">
            <a:solidFill>
              <a:srgbClr val="F8FAFC"/>
            </a:solidFill>
            <a:prstDash val="solid"/>
          </a:ln>
        </p:spPr>
      </p:sp>
      <p:sp>
        <p:nvSpPr>
          <p:cNvPr id="23" name="Text 21"/>
          <p:cNvSpPr/>
          <p:nvPr/>
        </p:nvSpPr>
        <p:spPr>
          <a:xfrm>
            <a:off x="4480560" y="2414016"/>
            <a:ext cx="3383280" cy="201168"/>
          </a:xfrm>
          <a:prstGeom prst="rect">
            <a:avLst/>
          </a:prstGeom>
          <a:noFill/>
          <a:ln/>
        </p:spPr>
        <p:txBody>
          <a:bodyPr wrap="square" lIns="0" tIns="0" rIns="0" bIns="0" rtlCol="0" anchor="ctr"/>
          <a:lstStyle/>
          <a:p>
            <a:pPr indent="0" marL="0">
              <a:buNone/>
            </a:pPr>
            <a:r>
              <a:rPr lang="en-US" sz="1250" dirty="0">
                <a:solidFill>
                  <a:srgbClr val="334155"/>
                </a:solidFill>
              </a:rPr>
              <a:t>Learning rate</a:t>
            </a:r>
            <a:endParaRPr lang="en-US" sz="1250" dirty="0"/>
          </a:p>
        </p:txBody>
      </p:sp>
      <p:sp>
        <p:nvSpPr>
          <p:cNvPr id="24" name="Text 22"/>
          <p:cNvSpPr/>
          <p:nvPr/>
        </p:nvSpPr>
        <p:spPr>
          <a:xfrm>
            <a:off x="8503920" y="2414016"/>
            <a:ext cx="2377440" cy="201168"/>
          </a:xfrm>
          <a:prstGeom prst="rect">
            <a:avLst/>
          </a:prstGeom>
          <a:noFill/>
          <a:ln/>
        </p:spPr>
        <p:txBody>
          <a:bodyPr wrap="square" lIns="0" tIns="0" rIns="0" bIns="0" rtlCol="0" anchor="ctr"/>
          <a:lstStyle/>
          <a:p>
            <a:pPr algn="r" indent="0" marL="0">
              <a:buNone/>
            </a:pPr>
            <a:r>
              <a:rPr lang="en-US" sz="1250" b="1" dirty="0">
                <a:solidFill>
                  <a:srgbClr val="0F172A"/>
                </a:solidFill>
              </a:rPr>
              <a:t>3e−4</a:t>
            </a:r>
            <a:endParaRPr lang="en-US" sz="1250" dirty="0"/>
          </a:p>
        </p:txBody>
      </p:sp>
      <p:sp>
        <p:nvSpPr>
          <p:cNvPr id="25" name="Text 23"/>
          <p:cNvSpPr/>
          <p:nvPr/>
        </p:nvSpPr>
        <p:spPr>
          <a:xfrm>
            <a:off x="4480560" y="2852928"/>
            <a:ext cx="3383280" cy="201168"/>
          </a:xfrm>
          <a:prstGeom prst="rect">
            <a:avLst/>
          </a:prstGeom>
          <a:noFill/>
          <a:ln/>
        </p:spPr>
        <p:txBody>
          <a:bodyPr wrap="square" lIns="0" tIns="0" rIns="0" bIns="0" rtlCol="0" anchor="ctr"/>
          <a:lstStyle/>
          <a:p>
            <a:pPr indent="0" marL="0">
              <a:buNone/>
            </a:pPr>
            <a:r>
              <a:rPr lang="en-US" sz="1250" dirty="0">
                <a:solidFill>
                  <a:srgbClr val="334155"/>
                </a:solidFill>
              </a:rPr>
              <a:t>γ / GAE λ</a:t>
            </a:r>
            <a:endParaRPr lang="en-US" sz="1250" dirty="0"/>
          </a:p>
        </p:txBody>
      </p:sp>
      <p:sp>
        <p:nvSpPr>
          <p:cNvPr id="26" name="Text 24"/>
          <p:cNvSpPr/>
          <p:nvPr/>
        </p:nvSpPr>
        <p:spPr>
          <a:xfrm>
            <a:off x="8503920" y="2852928"/>
            <a:ext cx="2377440" cy="201168"/>
          </a:xfrm>
          <a:prstGeom prst="rect">
            <a:avLst/>
          </a:prstGeom>
          <a:noFill/>
          <a:ln/>
        </p:spPr>
        <p:txBody>
          <a:bodyPr wrap="square" lIns="0" tIns="0" rIns="0" bIns="0" rtlCol="0" anchor="ctr"/>
          <a:lstStyle/>
          <a:p>
            <a:pPr algn="r" indent="0" marL="0">
              <a:buNone/>
            </a:pPr>
            <a:r>
              <a:rPr lang="en-US" sz="1250" b="1" dirty="0">
                <a:solidFill>
                  <a:srgbClr val="0F172A"/>
                </a:solidFill>
              </a:rPr>
              <a:t>0.99 / 0.95</a:t>
            </a:r>
            <a:endParaRPr lang="en-US" sz="1250" dirty="0"/>
          </a:p>
        </p:txBody>
      </p:sp>
      <p:sp>
        <p:nvSpPr>
          <p:cNvPr id="27" name="Shape 25"/>
          <p:cNvSpPr/>
          <p:nvPr/>
        </p:nvSpPr>
        <p:spPr>
          <a:xfrm>
            <a:off x="4297680" y="3218688"/>
            <a:ext cx="6858000" cy="384048"/>
          </a:xfrm>
          <a:prstGeom prst="rect">
            <a:avLst/>
          </a:prstGeom>
          <a:solidFill>
            <a:srgbClr val="F8FAFC"/>
          </a:solidFill>
          <a:ln w="12700">
            <a:solidFill>
              <a:srgbClr val="F8FAFC"/>
            </a:solidFill>
            <a:prstDash val="solid"/>
          </a:ln>
        </p:spPr>
      </p:sp>
      <p:sp>
        <p:nvSpPr>
          <p:cNvPr id="28" name="Text 26"/>
          <p:cNvSpPr/>
          <p:nvPr/>
        </p:nvSpPr>
        <p:spPr>
          <a:xfrm>
            <a:off x="4480560" y="3291840"/>
            <a:ext cx="3383280" cy="201168"/>
          </a:xfrm>
          <a:prstGeom prst="rect">
            <a:avLst/>
          </a:prstGeom>
          <a:noFill/>
          <a:ln/>
        </p:spPr>
        <p:txBody>
          <a:bodyPr wrap="square" lIns="0" tIns="0" rIns="0" bIns="0" rtlCol="0" anchor="ctr"/>
          <a:lstStyle/>
          <a:p>
            <a:pPr indent="0" marL="0">
              <a:buNone/>
            </a:pPr>
            <a:r>
              <a:rPr lang="en-US" sz="1250" dirty="0">
                <a:solidFill>
                  <a:srgbClr val="334155"/>
                </a:solidFill>
              </a:rPr>
              <a:t>PPO clip</a:t>
            </a:r>
            <a:endParaRPr lang="en-US" sz="1250" dirty="0"/>
          </a:p>
        </p:txBody>
      </p:sp>
      <p:sp>
        <p:nvSpPr>
          <p:cNvPr id="29" name="Text 27"/>
          <p:cNvSpPr/>
          <p:nvPr/>
        </p:nvSpPr>
        <p:spPr>
          <a:xfrm>
            <a:off x="8503920" y="3291840"/>
            <a:ext cx="2377440" cy="201168"/>
          </a:xfrm>
          <a:prstGeom prst="rect">
            <a:avLst/>
          </a:prstGeom>
          <a:noFill/>
          <a:ln/>
        </p:spPr>
        <p:txBody>
          <a:bodyPr wrap="square" lIns="0" tIns="0" rIns="0" bIns="0" rtlCol="0" anchor="ctr"/>
          <a:lstStyle/>
          <a:p>
            <a:pPr algn="r" indent="0" marL="0">
              <a:buNone/>
            </a:pPr>
            <a:r>
              <a:rPr lang="en-US" sz="1250" b="1" dirty="0">
                <a:solidFill>
                  <a:srgbClr val="0F172A"/>
                </a:solidFill>
              </a:rPr>
              <a:t>0.20</a:t>
            </a:r>
            <a:endParaRPr lang="en-US" sz="1250" dirty="0"/>
          </a:p>
        </p:txBody>
      </p:sp>
      <p:sp>
        <p:nvSpPr>
          <p:cNvPr id="30" name="Text 28"/>
          <p:cNvSpPr/>
          <p:nvPr/>
        </p:nvSpPr>
        <p:spPr>
          <a:xfrm>
            <a:off x="4480560" y="3730752"/>
            <a:ext cx="3383280" cy="201168"/>
          </a:xfrm>
          <a:prstGeom prst="rect">
            <a:avLst/>
          </a:prstGeom>
          <a:noFill/>
          <a:ln/>
        </p:spPr>
        <p:txBody>
          <a:bodyPr wrap="square" lIns="0" tIns="0" rIns="0" bIns="0" rtlCol="0" anchor="ctr"/>
          <a:lstStyle/>
          <a:p>
            <a:pPr indent="0" marL="0">
              <a:buNone/>
            </a:pPr>
            <a:r>
              <a:rPr lang="en-US" sz="1250" dirty="0">
                <a:solidFill>
                  <a:srgbClr val="334155"/>
                </a:solidFill>
              </a:rPr>
              <a:t>Batch / epochs</a:t>
            </a:r>
            <a:endParaRPr lang="en-US" sz="1250" dirty="0"/>
          </a:p>
        </p:txBody>
      </p:sp>
      <p:sp>
        <p:nvSpPr>
          <p:cNvPr id="31" name="Text 29"/>
          <p:cNvSpPr/>
          <p:nvPr/>
        </p:nvSpPr>
        <p:spPr>
          <a:xfrm>
            <a:off x="8503920" y="3730752"/>
            <a:ext cx="2377440" cy="201168"/>
          </a:xfrm>
          <a:prstGeom prst="rect">
            <a:avLst/>
          </a:prstGeom>
          <a:noFill/>
          <a:ln/>
        </p:spPr>
        <p:txBody>
          <a:bodyPr wrap="square" lIns="0" tIns="0" rIns="0" bIns="0" rtlCol="0" anchor="ctr"/>
          <a:lstStyle/>
          <a:p>
            <a:pPr algn="r" indent="0" marL="0">
              <a:buNone/>
            </a:pPr>
            <a:r>
              <a:rPr lang="en-US" sz="1250" b="1" dirty="0">
                <a:solidFill>
                  <a:srgbClr val="0F172A"/>
                </a:solidFill>
              </a:rPr>
              <a:t>64 / 5</a:t>
            </a:r>
            <a:endParaRPr lang="en-US" sz="1250" dirty="0"/>
          </a:p>
        </p:txBody>
      </p:sp>
      <p:sp>
        <p:nvSpPr>
          <p:cNvPr id="32" name="Shape 30"/>
          <p:cNvSpPr/>
          <p:nvPr/>
        </p:nvSpPr>
        <p:spPr>
          <a:xfrm>
            <a:off x="4297680" y="4096512"/>
            <a:ext cx="6858000" cy="384048"/>
          </a:xfrm>
          <a:prstGeom prst="rect">
            <a:avLst/>
          </a:prstGeom>
          <a:solidFill>
            <a:srgbClr val="F8FAFC"/>
          </a:solidFill>
          <a:ln w="12700">
            <a:solidFill>
              <a:srgbClr val="F8FAFC"/>
            </a:solidFill>
            <a:prstDash val="solid"/>
          </a:ln>
        </p:spPr>
      </p:sp>
      <p:sp>
        <p:nvSpPr>
          <p:cNvPr id="33" name="Text 31"/>
          <p:cNvSpPr/>
          <p:nvPr/>
        </p:nvSpPr>
        <p:spPr>
          <a:xfrm>
            <a:off x="4480560" y="4169664"/>
            <a:ext cx="3383280" cy="201168"/>
          </a:xfrm>
          <a:prstGeom prst="rect">
            <a:avLst/>
          </a:prstGeom>
          <a:noFill/>
          <a:ln/>
        </p:spPr>
        <p:txBody>
          <a:bodyPr wrap="square" lIns="0" tIns="0" rIns="0" bIns="0" rtlCol="0" anchor="ctr"/>
          <a:lstStyle/>
          <a:p>
            <a:pPr indent="0" marL="0">
              <a:buNone/>
            </a:pPr>
            <a:r>
              <a:rPr lang="en-US" sz="1250" dirty="0">
                <a:solidFill>
                  <a:srgbClr val="334155"/>
                </a:solidFill>
              </a:rPr>
              <a:t>Entropy coef.</a:t>
            </a:r>
            <a:endParaRPr lang="en-US" sz="1250" dirty="0"/>
          </a:p>
        </p:txBody>
      </p:sp>
      <p:sp>
        <p:nvSpPr>
          <p:cNvPr id="34" name="Text 32"/>
          <p:cNvSpPr/>
          <p:nvPr/>
        </p:nvSpPr>
        <p:spPr>
          <a:xfrm>
            <a:off x="8503920" y="4169664"/>
            <a:ext cx="2377440" cy="201168"/>
          </a:xfrm>
          <a:prstGeom prst="rect">
            <a:avLst/>
          </a:prstGeom>
          <a:noFill/>
          <a:ln/>
        </p:spPr>
        <p:txBody>
          <a:bodyPr wrap="square" lIns="0" tIns="0" rIns="0" bIns="0" rtlCol="0" anchor="ctr"/>
          <a:lstStyle/>
          <a:p>
            <a:pPr algn="r" indent="0" marL="0">
              <a:buNone/>
            </a:pPr>
            <a:r>
              <a:rPr lang="en-US" sz="1250" b="1" dirty="0">
                <a:solidFill>
                  <a:srgbClr val="0F172A"/>
                </a:solidFill>
              </a:rPr>
              <a:t>0.0</a:t>
            </a:r>
            <a:endParaRPr lang="en-US" sz="1250" dirty="0"/>
          </a:p>
        </p:txBody>
      </p:sp>
      <p:sp>
        <p:nvSpPr>
          <p:cNvPr id="35" name="Text 33"/>
          <p:cNvSpPr/>
          <p:nvPr/>
        </p:nvSpPr>
        <p:spPr>
          <a:xfrm>
            <a:off x="4480560" y="4608576"/>
            <a:ext cx="3383280" cy="201168"/>
          </a:xfrm>
          <a:prstGeom prst="rect">
            <a:avLst/>
          </a:prstGeom>
          <a:noFill/>
          <a:ln/>
        </p:spPr>
        <p:txBody>
          <a:bodyPr wrap="square" lIns="0" tIns="0" rIns="0" bIns="0" rtlCol="0" anchor="ctr"/>
          <a:lstStyle/>
          <a:p>
            <a:pPr indent="0" marL="0">
              <a:buNone/>
            </a:pPr>
            <a:r>
              <a:rPr lang="en-US" sz="1250" dirty="0">
                <a:solidFill>
                  <a:srgbClr val="334155"/>
                </a:solidFill>
              </a:rPr>
              <a:t>Max grad norm</a:t>
            </a:r>
            <a:endParaRPr lang="en-US" sz="1250" dirty="0"/>
          </a:p>
        </p:txBody>
      </p:sp>
      <p:sp>
        <p:nvSpPr>
          <p:cNvPr id="36" name="Text 34"/>
          <p:cNvSpPr/>
          <p:nvPr/>
        </p:nvSpPr>
        <p:spPr>
          <a:xfrm>
            <a:off x="8503920" y="4608576"/>
            <a:ext cx="2377440" cy="201168"/>
          </a:xfrm>
          <a:prstGeom prst="rect">
            <a:avLst/>
          </a:prstGeom>
          <a:noFill/>
          <a:ln/>
        </p:spPr>
        <p:txBody>
          <a:bodyPr wrap="square" lIns="0" tIns="0" rIns="0" bIns="0" rtlCol="0" anchor="ctr"/>
          <a:lstStyle/>
          <a:p>
            <a:pPr algn="r" indent="0" marL="0">
              <a:buNone/>
            </a:pPr>
            <a:r>
              <a:rPr lang="en-US" sz="1250" b="1" dirty="0">
                <a:solidFill>
                  <a:srgbClr val="0F172A"/>
                </a:solidFill>
              </a:rPr>
              <a:t>0.5</a:t>
            </a:r>
            <a:endParaRPr lang="en-US" sz="125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84048"/>
            <a:ext cx="8138160" cy="411480"/>
          </a:xfrm>
          <a:prstGeom prst="rect">
            <a:avLst/>
          </a:prstGeom>
          <a:noFill/>
          <a:ln/>
        </p:spPr>
        <p:txBody>
          <a:bodyPr wrap="square" lIns="0" tIns="0" rIns="0" bIns="0" rtlCol="0" anchor="ctr"/>
          <a:lstStyle/>
          <a:p>
            <a:pPr indent="0" marL="0">
              <a:buNone/>
            </a:pPr>
            <a:r>
              <a:rPr lang="en-US" sz="2600" b="1" dirty="0">
                <a:solidFill>
                  <a:srgbClr val="0F172A"/>
                </a:solidFill>
                <a:latin typeface="Aptos Display" pitchFamily="34" charset="0"/>
                <a:ea typeface="Aptos Display" pitchFamily="34" charset="-122"/>
                <a:cs typeface="Aptos Display" pitchFamily="34" charset="-120"/>
              </a:rPr>
              <a:t>How the Project Evolved</a:t>
            </a:r>
            <a:endParaRPr lang="en-US" sz="2600" dirty="0"/>
          </a:p>
        </p:txBody>
      </p:sp>
      <p:sp>
        <p:nvSpPr>
          <p:cNvPr id="3" name="Text 1"/>
          <p:cNvSpPr/>
          <p:nvPr/>
        </p:nvSpPr>
        <p:spPr>
          <a:xfrm>
            <a:off x="585216" y="822960"/>
            <a:ext cx="9875520" cy="274320"/>
          </a:xfrm>
          <a:prstGeom prst="rect">
            <a:avLst/>
          </a:prstGeom>
          <a:noFill/>
          <a:ln/>
        </p:spPr>
        <p:txBody>
          <a:bodyPr wrap="square" lIns="0" tIns="0" rIns="0" bIns="0" rtlCol="0" anchor="ctr"/>
          <a:lstStyle/>
          <a:p>
            <a:pPr indent="0" marL="0">
              <a:buNone/>
            </a:pPr>
            <a:r>
              <a:rPr lang="en-US" sz="1250" dirty="0">
                <a:solidFill>
                  <a:srgbClr val="64748B"/>
                </a:solidFill>
              </a:rPr>
              <a:t>Fixes were made and reported in Part 1; Part 2 keeps the method and makes it demonstrable</a:t>
            </a:r>
            <a:endParaRPr lang="en-US" sz="1250" dirty="0"/>
          </a:p>
        </p:txBody>
      </p:sp>
      <p:sp>
        <p:nvSpPr>
          <p:cNvPr id="4" name="Text 2"/>
          <p:cNvSpPr/>
          <p:nvPr/>
        </p:nvSpPr>
        <p:spPr>
          <a:xfrm>
            <a:off x="914400" y="1298448"/>
            <a:ext cx="4480560" cy="320040"/>
          </a:xfrm>
          <a:prstGeom prst="rect">
            <a:avLst/>
          </a:prstGeom>
          <a:noFill/>
          <a:ln/>
        </p:spPr>
        <p:txBody>
          <a:bodyPr wrap="square" lIns="0" tIns="0" rIns="0" bIns="0" rtlCol="0" anchor="ctr"/>
          <a:lstStyle/>
          <a:p>
            <a:pPr algn="ctr" indent="0" marL="0">
              <a:buNone/>
            </a:pPr>
            <a:r>
              <a:rPr lang="en-US" sz="1800" b="1" dirty="0">
                <a:solidFill>
                  <a:srgbClr val="0F172A"/>
                </a:solidFill>
              </a:rPr>
              <a:t>Early version → Part 1 report</a:t>
            </a:r>
            <a:endParaRPr lang="en-US" sz="1800" dirty="0"/>
          </a:p>
        </p:txBody>
      </p:sp>
      <p:sp>
        <p:nvSpPr>
          <p:cNvPr id="5" name="Text 3"/>
          <p:cNvSpPr/>
          <p:nvPr/>
        </p:nvSpPr>
        <p:spPr>
          <a:xfrm>
            <a:off x="6766560" y="1298448"/>
            <a:ext cx="4480560" cy="320040"/>
          </a:xfrm>
          <a:prstGeom prst="rect">
            <a:avLst/>
          </a:prstGeom>
          <a:noFill/>
          <a:ln/>
        </p:spPr>
        <p:txBody>
          <a:bodyPr wrap="square" lIns="0" tIns="0" rIns="0" bIns="0" rtlCol="0" anchor="ctr"/>
          <a:lstStyle/>
          <a:p>
            <a:pPr algn="ctr" indent="0" marL="0">
              <a:buNone/>
            </a:pPr>
            <a:r>
              <a:rPr lang="en-US" sz="1800" b="1" dirty="0">
                <a:solidFill>
                  <a:srgbClr val="0F172A"/>
                </a:solidFill>
              </a:rPr>
              <a:t>Part 1 → Part 2 (this project)</a:t>
            </a:r>
            <a:endParaRPr lang="en-US" sz="1800" dirty="0"/>
          </a:p>
        </p:txBody>
      </p:sp>
      <p:sp>
        <p:nvSpPr>
          <p:cNvPr id="6" name="Shape 4"/>
          <p:cNvSpPr/>
          <p:nvPr/>
        </p:nvSpPr>
        <p:spPr>
          <a:xfrm>
            <a:off x="822960" y="1874520"/>
            <a:ext cx="4709160" cy="621792"/>
          </a:xfrm>
          <a:prstGeom prst="roundRect">
            <a:avLst>
              <a:gd name="adj" fmla="val 5882"/>
            </a:avLst>
          </a:prstGeom>
          <a:solidFill>
            <a:srgbClr val="FFFFFF"/>
          </a:solidFill>
          <a:ln w="12700">
            <a:solidFill>
              <a:srgbClr val="E2E8F0"/>
            </a:solidFill>
            <a:prstDash val="solid"/>
          </a:ln>
        </p:spPr>
      </p:sp>
      <p:sp>
        <p:nvSpPr>
          <p:cNvPr id="7" name="Text 5"/>
          <p:cNvSpPr/>
          <p:nvPr/>
        </p:nvSpPr>
        <p:spPr>
          <a:xfrm>
            <a:off x="1051560" y="2048256"/>
            <a:ext cx="3474720" cy="182880"/>
          </a:xfrm>
          <a:prstGeom prst="rect">
            <a:avLst/>
          </a:prstGeom>
          <a:noFill/>
          <a:ln/>
        </p:spPr>
        <p:txBody>
          <a:bodyPr wrap="square" lIns="0" tIns="0" rIns="0" bIns="0" rtlCol="0" anchor="ctr"/>
          <a:lstStyle/>
          <a:p>
            <a:pPr indent="0" marL="0">
              <a:buNone/>
            </a:pPr>
            <a:r>
              <a:rPr lang="en-US" sz="1300" dirty="0">
                <a:solidFill>
                  <a:srgbClr val="334155"/>
                </a:solidFill>
              </a:rPr>
              <a:t>Raw target angle → relative error</a:t>
            </a:r>
            <a:endParaRPr lang="en-US" sz="1300" dirty="0"/>
          </a:p>
        </p:txBody>
      </p:sp>
      <p:sp>
        <p:nvSpPr>
          <p:cNvPr id="8" name="Shape 6"/>
          <p:cNvSpPr/>
          <p:nvPr/>
        </p:nvSpPr>
        <p:spPr>
          <a:xfrm>
            <a:off x="4389120" y="2029968"/>
            <a:ext cx="914400" cy="301752"/>
          </a:xfrm>
          <a:prstGeom prst="roundRect">
            <a:avLst>
              <a:gd name="adj" fmla="val 24242"/>
            </a:avLst>
          </a:prstGeom>
          <a:solidFill>
            <a:srgbClr val="CCFBF1"/>
          </a:solidFill>
          <a:ln w="12700">
            <a:solidFill>
              <a:srgbClr val="CCFBF1"/>
            </a:solidFill>
            <a:prstDash val="solid"/>
          </a:ln>
        </p:spPr>
      </p:sp>
      <p:sp>
        <p:nvSpPr>
          <p:cNvPr id="9" name="Text 7"/>
          <p:cNvSpPr/>
          <p:nvPr/>
        </p:nvSpPr>
        <p:spPr>
          <a:xfrm>
            <a:off x="4462272" y="2080260"/>
            <a:ext cx="768096" cy="173736"/>
          </a:xfrm>
          <a:prstGeom prst="rect">
            <a:avLst/>
          </a:prstGeom>
          <a:noFill/>
          <a:ln/>
        </p:spPr>
        <p:txBody>
          <a:bodyPr wrap="square" lIns="0" tIns="0" rIns="0" bIns="0" rtlCol="0" anchor="ctr"/>
          <a:lstStyle/>
          <a:p>
            <a:pPr algn="ctr" indent="0" marL="0">
              <a:buNone/>
            </a:pPr>
            <a:r>
              <a:rPr lang="en-US" sz="1050" b="1" dirty="0">
                <a:solidFill>
                  <a:srgbClr val="115E59"/>
                </a:solidFill>
              </a:rPr>
              <a:t>fixed</a:t>
            </a:r>
            <a:endParaRPr lang="en-US" sz="1050" dirty="0"/>
          </a:p>
        </p:txBody>
      </p:sp>
      <p:sp>
        <p:nvSpPr>
          <p:cNvPr id="10" name="Shape 8"/>
          <p:cNvSpPr/>
          <p:nvPr/>
        </p:nvSpPr>
        <p:spPr>
          <a:xfrm>
            <a:off x="822960" y="2715768"/>
            <a:ext cx="4709160" cy="621792"/>
          </a:xfrm>
          <a:prstGeom prst="roundRect">
            <a:avLst>
              <a:gd name="adj" fmla="val 5882"/>
            </a:avLst>
          </a:prstGeom>
          <a:solidFill>
            <a:srgbClr val="FFFFFF"/>
          </a:solidFill>
          <a:ln w="12700">
            <a:solidFill>
              <a:srgbClr val="E2E8F0"/>
            </a:solidFill>
            <a:prstDash val="solid"/>
          </a:ln>
        </p:spPr>
      </p:sp>
      <p:sp>
        <p:nvSpPr>
          <p:cNvPr id="11" name="Text 9"/>
          <p:cNvSpPr/>
          <p:nvPr/>
        </p:nvSpPr>
        <p:spPr>
          <a:xfrm>
            <a:off x="1051560" y="2889504"/>
            <a:ext cx="3474720" cy="182880"/>
          </a:xfrm>
          <a:prstGeom prst="rect">
            <a:avLst/>
          </a:prstGeom>
          <a:noFill/>
          <a:ln/>
        </p:spPr>
        <p:txBody>
          <a:bodyPr wrap="square" lIns="0" tIns="0" rIns="0" bIns="0" rtlCol="0" anchor="ctr"/>
          <a:lstStyle/>
          <a:p>
            <a:pPr indent="0" marL="0">
              <a:buNone/>
            </a:pPr>
            <a:r>
              <a:rPr lang="en-US" sz="1300" dirty="0">
                <a:solidFill>
                  <a:srgbClr val="334155"/>
                </a:solidFill>
              </a:rPr>
              <a:t>Time limit as failure → bootstrapped</a:t>
            </a:r>
            <a:endParaRPr lang="en-US" sz="1300" dirty="0"/>
          </a:p>
        </p:txBody>
      </p:sp>
      <p:sp>
        <p:nvSpPr>
          <p:cNvPr id="12" name="Shape 10"/>
          <p:cNvSpPr/>
          <p:nvPr/>
        </p:nvSpPr>
        <p:spPr>
          <a:xfrm>
            <a:off x="4389120" y="2871216"/>
            <a:ext cx="914400" cy="301752"/>
          </a:xfrm>
          <a:prstGeom prst="roundRect">
            <a:avLst>
              <a:gd name="adj" fmla="val 24242"/>
            </a:avLst>
          </a:prstGeom>
          <a:solidFill>
            <a:srgbClr val="CCFBF1"/>
          </a:solidFill>
          <a:ln w="12700">
            <a:solidFill>
              <a:srgbClr val="CCFBF1"/>
            </a:solidFill>
            <a:prstDash val="solid"/>
          </a:ln>
        </p:spPr>
      </p:sp>
      <p:sp>
        <p:nvSpPr>
          <p:cNvPr id="13" name="Text 11"/>
          <p:cNvSpPr/>
          <p:nvPr/>
        </p:nvSpPr>
        <p:spPr>
          <a:xfrm>
            <a:off x="4462272" y="2921508"/>
            <a:ext cx="768096" cy="173736"/>
          </a:xfrm>
          <a:prstGeom prst="rect">
            <a:avLst/>
          </a:prstGeom>
          <a:noFill/>
          <a:ln/>
        </p:spPr>
        <p:txBody>
          <a:bodyPr wrap="square" lIns="0" tIns="0" rIns="0" bIns="0" rtlCol="0" anchor="ctr"/>
          <a:lstStyle/>
          <a:p>
            <a:pPr algn="ctr" indent="0" marL="0">
              <a:buNone/>
            </a:pPr>
            <a:r>
              <a:rPr lang="en-US" sz="1050" b="1" dirty="0">
                <a:solidFill>
                  <a:srgbClr val="115E59"/>
                </a:solidFill>
              </a:rPr>
              <a:t>fixed</a:t>
            </a:r>
            <a:endParaRPr lang="en-US" sz="1050" dirty="0"/>
          </a:p>
        </p:txBody>
      </p:sp>
      <p:sp>
        <p:nvSpPr>
          <p:cNvPr id="14" name="Shape 12"/>
          <p:cNvSpPr/>
          <p:nvPr/>
        </p:nvSpPr>
        <p:spPr>
          <a:xfrm>
            <a:off x="822960" y="3557016"/>
            <a:ext cx="4709160" cy="621792"/>
          </a:xfrm>
          <a:prstGeom prst="roundRect">
            <a:avLst>
              <a:gd name="adj" fmla="val 5882"/>
            </a:avLst>
          </a:prstGeom>
          <a:solidFill>
            <a:srgbClr val="FFFFFF"/>
          </a:solidFill>
          <a:ln w="12700">
            <a:solidFill>
              <a:srgbClr val="E2E8F0"/>
            </a:solidFill>
            <a:prstDash val="solid"/>
          </a:ln>
        </p:spPr>
      </p:sp>
      <p:sp>
        <p:nvSpPr>
          <p:cNvPr id="15" name="Text 13"/>
          <p:cNvSpPr/>
          <p:nvPr/>
        </p:nvSpPr>
        <p:spPr>
          <a:xfrm>
            <a:off x="1051560" y="3730752"/>
            <a:ext cx="3474720" cy="182880"/>
          </a:xfrm>
          <a:prstGeom prst="rect">
            <a:avLst/>
          </a:prstGeom>
          <a:noFill/>
          <a:ln/>
        </p:spPr>
        <p:txBody>
          <a:bodyPr wrap="square" lIns="0" tIns="0" rIns="0" bIns="0" rtlCol="0" anchor="ctr"/>
          <a:lstStyle/>
          <a:p>
            <a:pPr indent="0" marL="0">
              <a:buNone/>
            </a:pPr>
            <a:r>
              <a:rPr lang="en-US" sz="1300" dirty="0">
                <a:solidFill>
                  <a:srgbClr val="334155"/>
                </a:solidFill>
              </a:rPr>
              <a:t>32-step final batch → removed</a:t>
            </a:r>
            <a:endParaRPr lang="en-US" sz="1300" dirty="0"/>
          </a:p>
        </p:txBody>
      </p:sp>
      <p:sp>
        <p:nvSpPr>
          <p:cNvPr id="16" name="Shape 14"/>
          <p:cNvSpPr/>
          <p:nvPr/>
        </p:nvSpPr>
        <p:spPr>
          <a:xfrm>
            <a:off x="4389120" y="3712464"/>
            <a:ext cx="914400" cy="301752"/>
          </a:xfrm>
          <a:prstGeom prst="roundRect">
            <a:avLst>
              <a:gd name="adj" fmla="val 24242"/>
            </a:avLst>
          </a:prstGeom>
          <a:solidFill>
            <a:srgbClr val="CCFBF1"/>
          </a:solidFill>
          <a:ln w="12700">
            <a:solidFill>
              <a:srgbClr val="CCFBF1"/>
            </a:solidFill>
            <a:prstDash val="solid"/>
          </a:ln>
        </p:spPr>
      </p:sp>
      <p:sp>
        <p:nvSpPr>
          <p:cNvPr id="17" name="Text 15"/>
          <p:cNvSpPr/>
          <p:nvPr/>
        </p:nvSpPr>
        <p:spPr>
          <a:xfrm>
            <a:off x="4462272" y="3762756"/>
            <a:ext cx="768096" cy="173736"/>
          </a:xfrm>
          <a:prstGeom prst="rect">
            <a:avLst/>
          </a:prstGeom>
          <a:noFill/>
          <a:ln/>
        </p:spPr>
        <p:txBody>
          <a:bodyPr wrap="square" lIns="0" tIns="0" rIns="0" bIns="0" rtlCol="0" anchor="ctr"/>
          <a:lstStyle/>
          <a:p>
            <a:pPr algn="ctr" indent="0" marL="0">
              <a:buNone/>
            </a:pPr>
            <a:r>
              <a:rPr lang="en-US" sz="1050" b="1" dirty="0">
                <a:solidFill>
                  <a:srgbClr val="115E59"/>
                </a:solidFill>
              </a:rPr>
              <a:t>fixed</a:t>
            </a:r>
            <a:endParaRPr lang="en-US" sz="1050" dirty="0"/>
          </a:p>
        </p:txBody>
      </p:sp>
      <p:sp>
        <p:nvSpPr>
          <p:cNvPr id="18" name="Shape 16"/>
          <p:cNvSpPr/>
          <p:nvPr/>
        </p:nvSpPr>
        <p:spPr>
          <a:xfrm>
            <a:off x="822960" y="4398264"/>
            <a:ext cx="4709160" cy="621792"/>
          </a:xfrm>
          <a:prstGeom prst="roundRect">
            <a:avLst>
              <a:gd name="adj" fmla="val 5882"/>
            </a:avLst>
          </a:prstGeom>
          <a:solidFill>
            <a:srgbClr val="FFFFFF"/>
          </a:solidFill>
          <a:ln w="12700">
            <a:solidFill>
              <a:srgbClr val="E2E8F0"/>
            </a:solidFill>
            <a:prstDash val="solid"/>
          </a:ln>
        </p:spPr>
      </p:sp>
      <p:sp>
        <p:nvSpPr>
          <p:cNvPr id="19" name="Text 17"/>
          <p:cNvSpPr/>
          <p:nvPr/>
        </p:nvSpPr>
        <p:spPr>
          <a:xfrm>
            <a:off x="1051560" y="4572000"/>
            <a:ext cx="3474720" cy="182880"/>
          </a:xfrm>
          <a:prstGeom prst="rect">
            <a:avLst/>
          </a:prstGeom>
          <a:noFill/>
          <a:ln/>
        </p:spPr>
        <p:txBody>
          <a:bodyPr wrap="square" lIns="0" tIns="0" rIns="0" bIns="0" rtlCol="0" anchor="ctr"/>
          <a:lstStyle/>
          <a:p>
            <a:pPr indent="0" marL="0">
              <a:buNone/>
            </a:pPr>
            <a:r>
              <a:rPr lang="en-US" sz="1300" dirty="0">
                <a:solidFill>
                  <a:srgbClr val="334155"/>
                </a:solidFill>
              </a:rPr>
              <a:t>20k steps → 204,800 + evaluation</a:t>
            </a:r>
            <a:endParaRPr lang="en-US" sz="1300" dirty="0"/>
          </a:p>
        </p:txBody>
      </p:sp>
      <p:sp>
        <p:nvSpPr>
          <p:cNvPr id="20" name="Shape 18"/>
          <p:cNvSpPr/>
          <p:nvPr/>
        </p:nvSpPr>
        <p:spPr>
          <a:xfrm>
            <a:off x="4389120" y="4553712"/>
            <a:ext cx="914400" cy="301752"/>
          </a:xfrm>
          <a:prstGeom prst="roundRect">
            <a:avLst>
              <a:gd name="adj" fmla="val 24242"/>
            </a:avLst>
          </a:prstGeom>
          <a:solidFill>
            <a:srgbClr val="FEF3C7"/>
          </a:solidFill>
          <a:ln w="12700">
            <a:solidFill>
              <a:srgbClr val="FEF3C7"/>
            </a:solidFill>
            <a:prstDash val="solid"/>
          </a:ln>
        </p:spPr>
      </p:sp>
      <p:sp>
        <p:nvSpPr>
          <p:cNvPr id="21" name="Text 19"/>
          <p:cNvSpPr/>
          <p:nvPr/>
        </p:nvSpPr>
        <p:spPr>
          <a:xfrm>
            <a:off x="4462272" y="4604004"/>
            <a:ext cx="768096" cy="173736"/>
          </a:xfrm>
          <a:prstGeom prst="rect">
            <a:avLst/>
          </a:prstGeom>
          <a:noFill/>
          <a:ln/>
        </p:spPr>
        <p:txBody>
          <a:bodyPr wrap="square" lIns="0" tIns="0" rIns="0" bIns="0" rtlCol="0" anchor="ctr"/>
          <a:lstStyle/>
          <a:p>
            <a:pPr algn="ctr" indent="0" marL="0">
              <a:buNone/>
            </a:pPr>
            <a:r>
              <a:rPr lang="en-US" sz="1050" b="1" dirty="0">
                <a:solidFill>
                  <a:srgbClr val="92400E"/>
                </a:solidFill>
              </a:rPr>
              <a:t>fixed</a:t>
            </a:r>
            <a:endParaRPr lang="en-US" sz="1050" dirty="0"/>
          </a:p>
        </p:txBody>
      </p:sp>
      <p:sp>
        <p:nvSpPr>
          <p:cNvPr id="22" name="Shape 20"/>
          <p:cNvSpPr/>
          <p:nvPr/>
        </p:nvSpPr>
        <p:spPr>
          <a:xfrm>
            <a:off x="6629400" y="1874520"/>
            <a:ext cx="4709160" cy="621792"/>
          </a:xfrm>
          <a:prstGeom prst="roundRect">
            <a:avLst>
              <a:gd name="adj" fmla="val 5882"/>
            </a:avLst>
          </a:prstGeom>
          <a:solidFill>
            <a:srgbClr val="FFFFFF"/>
          </a:solidFill>
          <a:ln w="12700">
            <a:solidFill>
              <a:srgbClr val="E2E8F0"/>
            </a:solidFill>
            <a:prstDash val="solid"/>
          </a:ln>
        </p:spPr>
      </p:sp>
      <p:sp>
        <p:nvSpPr>
          <p:cNvPr id="23" name="Text 21"/>
          <p:cNvSpPr/>
          <p:nvPr/>
        </p:nvSpPr>
        <p:spPr>
          <a:xfrm>
            <a:off x="6858000" y="2048256"/>
            <a:ext cx="3383280" cy="182880"/>
          </a:xfrm>
          <a:prstGeom prst="rect">
            <a:avLst/>
          </a:prstGeom>
          <a:noFill/>
          <a:ln/>
        </p:spPr>
        <p:txBody>
          <a:bodyPr wrap="square" lIns="0" tIns="0" rIns="0" bIns="0" rtlCol="0" anchor="ctr"/>
          <a:lstStyle/>
          <a:p>
            <a:pPr indent="0" marL="0">
              <a:buNone/>
            </a:pPr>
            <a:r>
              <a:rPr lang="en-US" sz="1300" dirty="0">
                <a:solidFill>
                  <a:srgbClr val="334155"/>
                </a:solidFill>
              </a:rPr>
              <a:t>PPO, GAE, environment, results</a:t>
            </a:r>
            <a:endParaRPr lang="en-US" sz="1300" dirty="0"/>
          </a:p>
        </p:txBody>
      </p:sp>
      <p:sp>
        <p:nvSpPr>
          <p:cNvPr id="24" name="Shape 22"/>
          <p:cNvSpPr/>
          <p:nvPr/>
        </p:nvSpPr>
        <p:spPr>
          <a:xfrm>
            <a:off x="10149840" y="2029968"/>
            <a:ext cx="960120" cy="301752"/>
          </a:xfrm>
          <a:prstGeom prst="roundRect">
            <a:avLst>
              <a:gd name="adj" fmla="val 24242"/>
            </a:avLst>
          </a:prstGeom>
          <a:solidFill>
            <a:srgbClr val="CCFBF1"/>
          </a:solidFill>
          <a:ln w="12700">
            <a:solidFill>
              <a:srgbClr val="CCFBF1"/>
            </a:solidFill>
            <a:prstDash val="solid"/>
          </a:ln>
        </p:spPr>
      </p:sp>
      <p:sp>
        <p:nvSpPr>
          <p:cNvPr id="25" name="Text 23"/>
          <p:cNvSpPr/>
          <p:nvPr/>
        </p:nvSpPr>
        <p:spPr>
          <a:xfrm>
            <a:off x="10222992" y="2080260"/>
            <a:ext cx="813816" cy="173736"/>
          </a:xfrm>
          <a:prstGeom prst="rect">
            <a:avLst/>
          </a:prstGeom>
          <a:noFill/>
          <a:ln/>
        </p:spPr>
        <p:txBody>
          <a:bodyPr wrap="square" lIns="0" tIns="0" rIns="0" bIns="0" rtlCol="0" anchor="ctr"/>
          <a:lstStyle/>
          <a:p>
            <a:pPr algn="ctr" indent="0" marL="0">
              <a:buNone/>
            </a:pPr>
            <a:r>
              <a:rPr lang="en-US" sz="1050" b="1" dirty="0">
                <a:solidFill>
                  <a:srgbClr val="115E59"/>
                </a:solidFill>
              </a:rPr>
              <a:t>kept</a:t>
            </a:r>
            <a:endParaRPr lang="en-US" sz="1050" dirty="0"/>
          </a:p>
        </p:txBody>
      </p:sp>
      <p:sp>
        <p:nvSpPr>
          <p:cNvPr id="26" name="Shape 24"/>
          <p:cNvSpPr/>
          <p:nvPr/>
        </p:nvSpPr>
        <p:spPr>
          <a:xfrm>
            <a:off x="6629400" y="2715768"/>
            <a:ext cx="4709160" cy="621792"/>
          </a:xfrm>
          <a:prstGeom prst="roundRect">
            <a:avLst>
              <a:gd name="adj" fmla="val 5882"/>
            </a:avLst>
          </a:prstGeom>
          <a:solidFill>
            <a:srgbClr val="FFFFFF"/>
          </a:solidFill>
          <a:ln w="12700">
            <a:solidFill>
              <a:srgbClr val="E2E8F0"/>
            </a:solidFill>
            <a:prstDash val="solid"/>
          </a:ln>
        </p:spPr>
      </p:sp>
      <p:sp>
        <p:nvSpPr>
          <p:cNvPr id="27" name="Text 25"/>
          <p:cNvSpPr/>
          <p:nvPr/>
        </p:nvSpPr>
        <p:spPr>
          <a:xfrm>
            <a:off x="6858000" y="2889504"/>
            <a:ext cx="3383280" cy="182880"/>
          </a:xfrm>
          <a:prstGeom prst="rect">
            <a:avLst/>
          </a:prstGeom>
          <a:noFill/>
          <a:ln/>
        </p:spPr>
        <p:txBody>
          <a:bodyPr wrap="square" lIns="0" tIns="0" rIns="0" bIns="0" rtlCol="0" anchor="ctr"/>
          <a:lstStyle/>
          <a:p>
            <a:pPr indent="0" marL="0">
              <a:buNone/>
            </a:pPr>
            <a:r>
              <a:rPr lang="en-US" sz="1300" dirty="0">
                <a:solidFill>
                  <a:srgbClr val="334155"/>
                </a:solidFill>
              </a:rPr>
              <a:t>No demo → 4-episode held-out demo</a:t>
            </a:r>
            <a:endParaRPr lang="en-US" sz="1300" dirty="0"/>
          </a:p>
        </p:txBody>
      </p:sp>
      <p:sp>
        <p:nvSpPr>
          <p:cNvPr id="28" name="Shape 26"/>
          <p:cNvSpPr/>
          <p:nvPr/>
        </p:nvSpPr>
        <p:spPr>
          <a:xfrm>
            <a:off x="10149840" y="2871216"/>
            <a:ext cx="960120" cy="301752"/>
          </a:xfrm>
          <a:prstGeom prst="roundRect">
            <a:avLst>
              <a:gd name="adj" fmla="val 24242"/>
            </a:avLst>
          </a:prstGeom>
          <a:solidFill>
            <a:srgbClr val="CCFBF1"/>
          </a:solidFill>
          <a:ln w="12700">
            <a:solidFill>
              <a:srgbClr val="CCFBF1"/>
            </a:solidFill>
            <a:prstDash val="solid"/>
          </a:ln>
        </p:spPr>
      </p:sp>
      <p:sp>
        <p:nvSpPr>
          <p:cNvPr id="29" name="Text 27"/>
          <p:cNvSpPr/>
          <p:nvPr/>
        </p:nvSpPr>
        <p:spPr>
          <a:xfrm>
            <a:off x="10222992" y="2921508"/>
            <a:ext cx="813816" cy="173736"/>
          </a:xfrm>
          <a:prstGeom prst="rect">
            <a:avLst/>
          </a:prstGeom>
          <a:noFill/>
          <a:ln/>
        </p:spPr>
        <p:txBody>
          <a:bodyPr wrap="square" lIns="0" tIns="0" rIns="0" bIns="0" rtlCol="0" anchor="ctr"/>
          <a:lstStyle/>
          <a:p>
            <a:pPr algn="ctr" indent="0" marL="0">
              <a:buNone/>
            </a:pPr>
            <a:r>
              <a:rPr lang="en-US" sz="1050" b="1" dirty="0">
                <a:solidFill>
                  <a:srgbClr val="115E59"/>
                </a:solidFill>
              </a:rPr>
              <a:t>added</a:t>
            </a:r>
            <a:endParaRPr lang="en-US" sz="1050" dirty="0"/>
          </a:p>
        </p:txBody>
      </p:sp>
      <p:sp>
        <p:nvSpPr>
          <p:cNvPr id="30" name="Shape 28"/>
          <p:cNvSpPr/>
          <p:nvPr/>
        </p:nvSpPr>
        <p:spPr>
          <a:xfrm>
            <a:off x="6629400" y="3557016"/>
            <a:ext cx="4709160" cy="621792"/>
          </a:xfrm>
          <a:prstGeom prst="roundRect">
            <a:avLst>
              <a:gd name="adj" fmla="val 5882"/>
            </a:avLst>
          </a:prstGeom>
          <a:solidFill>
            <a:srgbClr val="FFFFFF"/>
          </a:solidFill>
          <a:ln w="12700">
            <a:solidFill>
              <a:srgbClr val="E2E8F0"/>
            </a:solidFill>
            <a:prstDash val="solid"/>
          </a:ln>
        </p:spPr>
      </p:sp>
      <p:sp>
        <p:nvSpPr>
          <p:cNvPr id="31" name="Text 29"/>
          <p:cNvSpPr/>
          <p:nvPr/>
        </p:nvSpPr>
        <p:spPr>
          <a:xfrm>
            <a:off x="6858000" y="3730752"/>
            <a:ext cx="3383280" cy="182880"/>
          </a:xfrm>
          <a:prstGeom prst="rect">
            <a:avLst/>
          </a:prstGeom>
          <a:noFill/>
          <a:ln/>
        </p:spPr>
        <p:txBody>
          <a:bodyPr wrap="square" lIns="0" tIns="0" rIns="0" bIns="0" rtlCol="0" anchor="ctr"/>
          <a:lstStyle/>
          <a:p>
            <a:pPr indent="0" marL="0">
              <a:buNone/>
            </a:pPr>
            <a:r>
              <a:rPr lang="en-US" sz="1300" dirty="0">
                <a:solidFill>
                  <a:srgbClr val="334155"/>
                </a:solidFill>
              </a:rPr>
              <a:t>Code + outputs → documented repo</a:t>
            </a:r>
            <a:endParaRPr lang="en-US" sz="1300" dirty="0"/>
          </a:p>
        </p:txBody>
      </p:sp>
      <p:sp>
        <p:nvSpPr>
          <p:cNvPr id="32" name="Shape 30"/>
          <p:cNvSpPr/>
          <p:nvPr/>
        </p:nvSpPr>
        <p:spPr>
          <a:xfrm>
            <a:off x="10149840" y="3712464"/>
            <a:ext cx="960120" cy="301752"/>
          </a:xfrm>
          <a:prstGeom prst="roundRect">
            <a:avLst>
              <a:gd name="adj" fmla="val 24242"/>
            </a:avLst>
          </a:prstGeom>
          <a:solidFill>
            <a:srgbClr val="CCFBF1"/>
          </a:solidFill>
          <a:ln w="12700">
            <a:solidFill>
              <a:srgbClr val="CCFBF1"/>
            </a:solidFill>
            <a:prstDash val="solid"/>
          </a:ln>
        </p:spPr>
      </p:sp>
      <p:sp>
        <p:nvSpPr>
          <p:cNvPr id="33" name="Text 31"/>
          <p:cNvSpPr/>
          <p:nvPr/>
        </p:nvSpPr>
        <p:spPr>
          <a:xfrm>
            <a:off x="10222992" y="3762756"/>
            <a:ext cx="813816" cy="173736"/>
          </a:xfrm>
          <a:prstGeom prst="rect">
            <a:avLst/>
          </a:prstGeom>
          <a:noFill/>
          <a:ln/>
        </p:spPr>
        <p:txBody>
          <a:bodyPr wrap="square" lIns="0" tIns="0" rIns="0" bIns="0" rtlCol="0" anchor="ctr"/>
          <a:lstStyle/>
          <a:p>
            <a:pPr algn="ctr" indent="0" marL="0">
              <a:buNone/>
            </a:pPr>
            <a:r>
              <a:rPr lang="en-US" sz="1050" b="1" dirty="0">
                <a:solidFill>
                  <a:srgbClr val="115E59"/>
                </a:solidFill>
              </a:rPr>
              <a:t>added</a:t>
            </a:r>
            <a:endParaRPr lang="en-US" sz="1050" dirty="0"/>
          </a:p>
        </p:txBody>
      </p:sp>
      <p:sp>
        <p:nvSpPr>
          <p:cNvPr id="34" name="Shape 32"/>
          <p:cNvSpPr/>
          <p:nvPr/>
        </p:nvSpPr>
        <p:spPr>
          <a:xfrm>
            <a:off x="6629400" y="4398264"/>
            <a:ext cx="4709160" cy="621792"/>
          </a:xfrm>
          <a:prstGeom prst="roundRect">
            <a:avLst>
              <a:gd name="adj" fmla="val 5882"/>
            </a:avLst>
          </a:prstGeom>
          <a:solidFill>
            <a:srgbClr val="FFFFFF"/>
          </a:solidFill>
          <a:ln w="12700">
            <a:solidFill>
              <a:srgbClr val="E2E8F0"/>
            </a:solidFill>
            <a:prstDash val="solid"/>
          </a:ln>
        </p:spPr>
      </p:sp>
      <p:sp>
        <p:nvSpPr>
          <p:cNvPr id="35" name="Text 33"/>
          <p:cNvSpPr/>
          <p:nvPr/>
        </p:nvSpPr>
        <p:spPr>
          <a:xfrm>
            <a:off x="6858000" y="4572000"/>
            <a:ext cx="3383280" cy="182880"/>
          </a:xfrm>
          <a:prstGeom prst="rect">
            <a:avLst/>
          </a:prstGeom>
          <a:noFill/>
          <a:ln/>
        </p:spPr>
        <p:txBody>
          <a:bodyPr wrap="square" lIns="0" tIns="0" rIns="0" bIns="0" rtlCol="0" anchor="ctr"/>
          <a:lstStyle/>
          <a:p>
            <a:pPr indent="0" marL="0">
              <a:buNone/>
            </a:pPr>
            <a:r>
              <a:rPr lang="en-US" sz="1300" dirty="0">
                <a:solidFill>
                  <a:srgbClr val="334155"/>
                </a:solidFill>
              </a:rPr>
              <a:t>Report → recorded walkthrough</a:t>
            </a:r>
            <a:endParaRPr lang="en-US" sz="1300" dirty="0"/>
          </a:p>
        </p:txBody>
      </p:sp>
      <p:sp>
        <p:nvSpPr>
          <p:cNvPr id="36" name="Shape 34"/>
          <p:cNvSpPr/>
          <p:nvPr/>
        </p:nvSpPr>
        <p:spPr>
          <a:xfrm>
            <a:off x="10149840" y="4553712"/>
            <a:ext cx="960120" cy="301752"/>
          </a:xfrm>
          <a:prstGeom prst="roundRect">
            <a:avLst>
              <a:gd name="adj" fmla="val 24242"/>
            </a:avLst>
          </a:prstGeom>
          <a:solidFill>
            <a:srgbClr val="CCFBF1"/>
          </a:solidFill>
          <a:ln w="12700">
            <a:solidFill>
              <a:srgbClr val="CCFBF1"/>
            </a:solidFill>
            <a:prstDash val="solid"/>
          </a:ln>
        </p:spPr>
      </p:sp>
      <p:sp>
        <p:nvSpPr>
          <p:cNvPr id="37" name="Text 35"/>
          <p:cNvSpPr/>
          <p:nvPr/>
        </p:nvSpPr>
        <p:spPr>
          <a:xfrm>
            <a:off x="10222992" y="4604004"/>
            <a:ext cx="813816" cy="173736"/>
          </a:xfrm>
          <a:prstGeom prst="rect">
            <a:avLst/>
          </a:prstGeom>
          <a:noFill/>
          <a:ln/>
        </p:spPr>
        <p:txBody>
          <a:bodyPr wrap="square" lIns="0" tIns="0" rIns="0" bIns="0" rtlCol="0" anchor="ctr"/>
          <a:lstStyle/>
          <a:p>
            <a:pPr algn="ctr" indent="0" marL="0">
              <a:buNone/>
            </a:pPr>
            <a:r>
              <a:rPr lang="en-US" sz="1050" b="1" dirty="0">
                <a:solidFill>
                  <a:srgbClr val="115E59"/>
                </a:solidFill>
              </a:rPr>
              <a:t>added</a:t>
            </a:r>
            <a:endParaRPr lang="en-US" sz="1050" dirty="0"/>
          </a:p>
        </p:txBody>
      </p:sp>
      <p:sp>
        <p:nvSpPr>
          <p:cNvPr id="38" name="Shape 36"/>
          <p:cNvSpPr/>
          <p:nvPr/>
        </p:nvSpPr>
        <p:spPr>
          <a:xfrm>
            <a:off x="5486400" y="3200400"/>
            <a:ext cx="1051560" cy="0"/>
          </a:xfrm>
          <a:prstGeom prst="line">
            <a:avLst/>
          </a:prstGeom>
          <a:noFill/>
          <a:ln w="25400">
            <a:solidFill>
              <a:srgbClr val="F59E0B"/>
            </a:solidFill>
            <a:prstDash val="solid"/>
            <a:headEnd type="none"/>
            <a:tailEnd type="triangle"/>
          </a:ln>
        </p:spPr>
      </p:sp>
      <p:sp>
        <p:nvSpPr>
          <p:cNvPr id="39" name="Shape 37"/>
          <p:cNvSpPr/>
          <p:nvPr/>
        </p:nvSpPr>
        <p:spPr>
          <a:xfrm>
            <a:off x="1828800" y="5349240"/>
            <a:ext cx="8595360" cy="475488"/>
          </a:xfrm>
          <a:prstGeom prst="roundRect">
            <a:avLst>
              <a:gd name="adj" fmla="val 7692"/>
            </a:avLst>
          </a:prstGeom>
          <a:solidFill>
            <a:srgbClr val="FEF3C7"/>
          </a:solidFill>
          <a:ln w="12700">
            <a:solidFill>
              <a:srgbClr val="FDE68A"/>
            </a:solidFill>
            <a:prstDash val="solid"/>
          </a:ln>
        </p:spPr>
      </p:sp>
      <p:sp>
        <p:nvSpPr>
          <p:cNvPr id="40" name="Text 38"/>
          <p:cNvSpPr/>
          <p:nvPr/>
        </p:nvSpPr>
        <p:spPr>
          <a:xfrm>
            <a:off x="2057400" y="5495544"/>
            <a:ext cx="8138160" cy="182880"/>
          </a:xfrm>
          <a:prstGeom prst="rect">
            <a:avLst/>
          </a:prstGeom>
          <a:noFill/>
          <a:ln/>
        </p:spPr>
        <p:txBody>
          <a:bodyPr wrap="square" lIns="0" tIns="0" rIns="0" bIns="0" rtlCol="0" anchor="ctr"/>
          <a:lstStyle/>
          <a:p>
            <a:pPr algn="ctr" indent="0" marL="0">
              <a:buNone/>
            </a:pPr>
            <a:r>
              <a:rPr lang="en-US" sz="1250" b="1" dirty="0">
                <a:solidFill>
                  <a:srgbClr val="92400E"/>
                </a:solidFill>
              </a:rPr>
              <a:t>Why: the early run barely beat random (p = 0.54). Part 2 makes the verified final results reproducible and visible.</a:t>
            </a:r>
            <a:endParaRPr lang="en-US" sz="125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8138160" cy="411480"/>
          </a:xfrm>
          <a:prstGeom prst="rect">
            <a:avLst/>
          </a:prstGeom>
          <a:noFill/>
          <a:ln/>
        </p:spPr>
        <p:txBody>
          <a:bodyPr wrap="square" lIns="0" tIns="0" rIns="0" bIns="0" rtlCol="0" anchor="ctr"/>
          <a:lstStyle/>
          <a:p>
            <a:pPr indent="0" marL="0">
              <a:buNone/>
            </a:pPr>
            <a:r>
              <a:rPr lang="en-US" sz="2600" b="1" dirty="0">
                <a:solidFill>
                  <a:srgbClr val="0F172A"/>
                </a:solidFill>
                <a:latin typeface="Aptos Display" pitchFamily="34" charset="0"/>
                <a:ea typeface="Aptos Display" pitchFamily="34" charset="-122"/>
                <a:cs typeface="Aptos Display" pitchFamily="34" charset="-120"/>
              </a:rPr>
              <a:t>Training Results: Reward</a:t>
            </a:r>
            <a:endParaRPr lang="en-US" sz="2600" dirty="0"/>
          </a:p>
        </p:txBody>
      </p:sp>
      <p:sp>
        <p:nvSpPr>
          <p:cNvPr id="3" name="Text 1"/>
          <p:cNvSpPr/>
          <p:nvPr/>
        </p:nvSpPr>
        <p:spPr>
          <a:xfrm>
            <a:off x="585216" y="822960"/>
            <a:ext cx="9875520" cy="274320"/>
          </a:xfrm>
          <a:prstGeom prst="rect">
            <a:avLst/>
          </a:prstGeom>
          <a:noFill/>
          <a:ln/>
        </p:spPr>
        <p:txBody>
          <a:bodyPr wrap="square" lIns="0" tIns="0" rIns="0" bIns="0" rtlCol="0" anchor="ctr"/>
          <a:lstStyle/>
          <a:p>
            <a:pPr indent="0" marL="0">
              <a:buNone/>
            </a:pPr>
            <a:r>
              <a:rPr lang="en-US" sz="1250" dirty="0">
                <a:solidFill>
                  <a:srgbClr val="64748B"/>
                </a:solidFill>
              </a:rPr>
              <a:t>1,024 completed episodes over 204,800 environment steps</a:t>
            </a:r>
            <a:endParaRPr lang="en-US" sz="1250" dirty="0"/>
          </a:p>
        </p:txBody>
      </p:sp>
      <p:pic>
        <p:nvPicPr>
          <p:cNvPr id="4" name="Image 0" descr="Episode return and 50-episode moving average over 1,024 training episodes">    </p:cNvPr>
          <p:cNvPicPr>
            <a:picLocks noChangeAspect="1"/>
          </p:cNvPicPr>
          <p:nvPr/>
        </p:nvPicPr>
        <p:blipFill>
          <a:blip r:embed="rId1"/>
          <a:stretch>
            <a:fillRect/>
          </a:stretch>
        </p:blipFill>
        <p:spPr>
          <a:xfrm>
            <a:off x="658368" y="1234440"/>
            <a:ext cx="7726680" cy="4343400"/>
          </a:xfrm>
          <a:prstGeom prst="rect">
            <a:avLst/>
          </a:prstGeom>
        </p:spPr>
      </p:pic>
      <p:sp>
        <p:nvSpPr>
          <p:cNvPr id="5" name="Shape 2"/>
          <p:cNvSpPr/>
          <p:nvPr/>
        </p:nvSpPr>
        <p:spPr>
          <a:xfrm>
            <a:off x="8668512" y="1508760"/>
            <a:ext cx="2697480" cy="868680"/>
          </a:xfrm>
          <a:prstGeom prst="roundRect">
            <a:avLst>
              <a:gd name="adj" fmla="val 6316"/>
            </a:avLst>
          </a:prstGeom>
          <a:solidFill>
            <a:srgbClr val="FFFFFF"/>
          </a:solidFill>
          <a:ln w="12700">
            <a:solidFill>
              <a:srgbClr val="E2E8F0"/>
            </a:solidFill>
            <a:prstDash val="solid"/>
          </a:ln>
        </p:spPr>
      </p:sp>
      <p:sp>
        <p:nvSpPr>
          <p:cNvPr id="6" name="Text 3"/>
          <p:cNvSpPr/>
          <p:nvPr/>
        </p:nvSpPr>
        <p:spPr>
          <a:xfrm>
            <a:off x="8805672" y="1655064"/>
            <a:ext cx="2423160" cy="320040"/>
          </a:xfrm>
          <a:prstGeom prst="rect">
            <a:avLst/>
          </a:prstGeom>
          <a:noFill/>
          <a:ln/>
        </p:spPr>
        <p:txBody>
          <a:bodyPr wrap="square" lIns="0" tIns="0" rIns="0" bIns="0" rtlCol="0" anchor="ctr"/>
          <a:lstStyle/>
          <a:p>
            <a:pPr algn="ctr" indent="0" marL="0">
              <a:buNone/>
            </a:pPr>
            <a:r>
              <a:rPr lang="en-US" sz="2200" b="1" dirty="0">
                <a:solidFill>
                  <a:srgbClr val="64748B"/>
                </a:solidFill>
              </a:rPr>
              <a:t>104.5</a:t>
            </a:r>
            <a:endParaRPr lang="en-US" sz="2200" dirty="0"/>
          </a:p>
        </p:txBody>
      </p:sp>
      <p:sp>
        <p:nvSpPr>
          <p:cNvPr id="7" name="Text 4"/>
          <p:cNvSpPr/>
          <p:nvPr/>
        </p:nvSpPr>
        <p:spPr>
          <a:xfrm>
            <a:off x="8778240" y="2039112"/>
            <a:ext cx="2478024" cy="182880"/>
          </a:xfrm>
          <a:prstGeom prst="rect">
            <a:avLst/>
          </a:prstGeom>
          <a:noFill/>
          <a:ln/>
        </p:spPr>
        <p:txBody>
          <a:bodyPr wrap="square" lIns="0" tIns="0" rIns="0" bIns="0" rtlCol="0" anchor="ctr"/>
          <a:lstStyle/>
          <a:p>
            <a:pPr algn="ctr" indent="0" marL="0">
              <a:buNone/>
            </a:pPr>
            <a:r>
              <a:rPr lang="en-US" sz="1050" dirty="0">
                <a:solidFill>
                  <a:srgbClr val="64748B"/>
                </a:solidFill>
              </a:rPr>
              <a:t>First 50 mean return</a:t>
            </a:r>
            <a:endParaRPr lang="en-US" sz="1050" dirty="0"/>
          </a:p>
        </p:txBody>
      </p:sp>
      <p:sp>
        <p:nvSpPr>
          <p:cNvPr id="8" name="Shape 5"/>
          <p:cNvSpPr/>
          <p:nvPr/>
        </p:nvSpPr>
        <p:spPr>
          <a:xfrm>
            <a:off x="8668512" y="2670048"/>
            <a:ext cx="2697480" cy="868680"/>
          </a:xfrm>
          <a:prstGeom prst="roundRect">
            <a:avLst>
              <a:gd name="adj" fmla="val 6316"/>
            </a:avLst>
          </a:prstGeom>
          <a:solidFill>
            <a:srgbClr val="FFFFFF"/>
          </a:solidFill>
          <a:ln w="12700">
            <a:solidFill>
              <a:srgbClr val="E2E8F0"/>
            </a:solidFill>
            <a:prstDash val="solid"/>
          </a:ln>
        </p:spPr>
      </p:sp>
      <p:sp>
        <p:nvSpPr>
          <p:cNvPr id="9" name="Text 6"/>
          <p:cNvSpPr/>
          <p:nvPr/>
        </p:nvSpPr>
        <p:spPr>
          <a:xfrm>
            <a:off x="8805672" y="2816352"/>
            <a:ext cx="2423160" cy="320040"/>
          </a:xfrm>
          <a:prstGeom prst="rect">
            <a:avLst/>
          </a:prstGeom>
          <a:noFill/>
          <a:ln/>
        </p:spPr>
        <p:txBody>
          <a:bodyPr wrap="square" lIns="0" tIns="0" rIns="0" bIns="0" rtlCol="0" anchor="ctr"/>
          <a:lstStyle/>
          <a:p>
            <a:pPr algn="ctr" indent="0" marL="0">
              <a:buNone/>
            </a:pPr>
            <a:r>
              <a:rPr lang="en-US" sz="2200" b="1" dirty="0">
                <a:solidFill>
                  <a:srgbClr val="0EA5A4"/>
                </a:solidFill>
              </a:rPr>
              <a:t>227.7</a:t>
            </a:r>
            <a:endParaRPr lang="en-US" sz="2200" dirty="0"/>
          </a:p>
        </p:txBody>
      </p:sp>
      <p:sp>
        <p:nvSpPr>
          <p:cNvPr id="10" name="Text 7"/>
          <p:cNvSpPr/>
          <p:nvPr/>
        </p:nvSpPr>
        <p:spPr>
          <a:xfrm>
            <a:off x="8778240" y="3200400"/>
            <a:ext cx="2478024" cy="182880"/>
          </a:xfrm>
          <a:prstGeom prst="rect">
            <a:avLst/>
          </a:prstGeom>
          <a:noFill/>
          <a:ln/>
        </p:spPr>
        <p:txBody>
          <a:bodyPr wrap="square" lIns="0" tIns="0" rIns="0" bIns="0" rtlCol="0" anchor="ctr"/>
          <a:lstStyle/>
          <a:p>
            <a:pPr algn="ctr" indent="0" marL="0">
              <a:buNone/>
            </a:pPr>
            <a:r>
              <a:rPr lang="en-US" sz="1050" dirty="0">
                <a:solidFill>
                  <a:srgbClr val="64748B"/>
                </a:solidFill>
              </a:rPr>
              <a:t>Last 50 mean return</a:t>
            </a:r>
            <a:endParaRPr lang="en-US" sz="1050" dirty="0"/>
          </a:p>
        </p:txBody>
      </p:sp>
      <p:sp>
        <p:nvSpPr>
          <p:cNvPr id="11" name="Shape 8"/>
          <p:cNvSpPr/>
          <p:nvPr/>
        </p:nvSpPr>
        <p:spPr>
          <a:xfrm>
            <a:off x="8668512" y="3831336"/>
            <a:ext cx="2697480" cy="868680"/>
          </a:xfrm>
          <a:prstGeom prst="roundRect">
            <a:avLst>
              <a:gd name="adj" fmla="val 6316"/>
            </a:avLst>
          </a:prstGeom>
          <a:solidFill>
            <a:srgbClr val="FFFFFF"/>
          </a:solidFill>
          <a:ln w="12700">
            <a:solidFill>
              <a:srgbClr val="E2E8F0"/>
            </a:solidFill>
            <a:prstDash val="solid"/>
          </a:ln>
        </p:spPr>
      </p:sp>
      <p:sp>
        <p:nvSpPr>
          <p:cNvPr id="12" name="Text 9"/>
          <p:cNvSpPr/>
          <p:nvPr/>
        </p:nvSpPr>
        <p:spPr>
          <a:xfrm>
            <a:off x="8805672" y="3977640"/>
            <a:ext cx="2423160" cy="320040"/>
          </a:xfrm>
          <a:prstGeom prst="rect">
            <a:avLst/>
          </a:prstGeom>
          <a:noFill/>
          <a:ln/>
        </p:spPr>
        <p:txBody>
          <a:bodyPr wrap="square" lIns="0" tIns="0" rIns="0" bIns="0" rtlCol="0" anchor="ctr"/>
          <a:lstStyle/>
          <a:p>
            <a:pPr algn="ctr" indent="0" marL="0">
              <a:buNone/>
            </a:pPr>
            <a:r>
              <a:rPr lang="en-US" sz="2200" b="1" dirty="0">
                <a:solidFill>
                  <a:srgbClr val="F59E0B"/>
                </a:solidFill>
              </a:rPr>
              <a:t>0.029 rad</a:t>
            </a:r>
            <a:endParaRPr lang="en-US" sz="2200" dirty="0"/>
          </a:p>
        </p:txBody>
      </p:sp>
      <p:sp>
        <p:nvSpPr>
          <p:cNvPr id="13" name="Text 10"/>
          <p:cNvSpPr/>
          <p:nvPr/>
        </p:nvSpPr>
        <p:spPr>
          <a:xfrm>
            <a:off x="8778240" y="4361688"/>
            <a:ext cx="2478024" cy="182880"/>
          </a:xfrm>
          <a:prstGeom prst="rect">
            <a:avLst/>
          </a:prstGeom>
          <a:noFill/>
          <a:ln/>
        </p:spPr>
        <p:txBody>
          <a:bodyPr wrap="square" lIns="0" tIns="0" rIns="0" bIns="0" rtlCol="0" anchor="ctr"/>
          <a:lstStyle/>
          <a:p>
            <a:pPr algn="ctr" indent="0" marL="0">
              <a:buNone/>
            </a:pPr>
            <a:r>
              <a:rPr lang="en-US" sz="1050" dirty="0">
                <a:solidFill>
                  <a:srgbClr val="64748B"/>
                </a:solidFill>
              </a:rPr>
              <a:t>Last 50 mean final error</a:t>
            </a:r>
            <a:endParaRPr lang="en-US" sz="1050" dirty="0"/>
          </a:p>
        </p:txBody>
      </p:sp>
      <p:sp>
        <p:nvSpPr>
          <p:cNvPr id="14" name="Shape 11"/>
          <p:cNvSpPr/>
          <p:nvPr/>
        </p:nvSpPr>
        <p:spPr>
          <a:xfrm>
            <a:off x="8732520" y="5010912"/>
            <a:ext cx="2560320" cy="658368"/>
          </a:xfrm>
          <a:prstGeom prst="roundRect">
            <a:avLst>
              <a:gd name="adj" fmla="val 5556"/>
            </a:avLst>
          </a:prstGeom>
          <a:solidFill>
            <a:srgbClr val="F1F5F9"/>
          </a:solidFill>
          <a:ln w="12700">
            <a:solidFill>
              <a:srgbClr val="E2E8F0"/>
            </a:solidFill>
            <a:prstDash val="solid"/>
          </a:ln>
        </p:spPr>
      </p:sp>
      <p:sp>
        <p:nvSpPr>
          <p:cNvPr id="15" name="Text 12"/>
          <p:cNvSpPr/>
          <p:nvPr/>
        </p:nvSpPr>
        <p:spPr>
          <a:xfrm>
            <a:off x="8942832" y="5148072"/>
            <a:ext cx="2148840" cy="384048"/>
          </a:xfrm>
          <a:prstGeom prst="rect">
            <a:avLst/>
          </a:prstGeom>
          <a:noFill/>
          <a:ln/>
        </p:spPr>
        <p:txBody>
          <a:bodyPr wrap="square" lIns="0" tIns="0" rIns="0" bIns="0" rtlCol="0" anchor="ctr"/>
          <a:lstStyle/>
          <a:p>
            <a:pPr algn="ctr" indent="0" marL="0">
              <a:buNone/>
            </a:pPr>
            <a:r>
              <a:rPr lang="en-US" sz="1150" b="1" dirty="0">
                <a:solidFill>
                  <a:srgbClr val="0F172A"/>
                </a:solidFill>
              </a:rPr>
              <a:t>Interpretation</a:t>
            </a:r>
            <a:endParaRPr lang="en-US" sz="1150" dirty="0"/>
          </a:p>
          <a:p>
            <a:pPr algn="ctr" indent="0" marL="0">
              <a:buNone/>
            </a:pPr>
            <a:r>
              <a:rPr lang="en-US" sz="1150" b="1" dirty="0">
                <a:solidFill>
                  <a:srgbClr val="0F172A"/>
                </a:solidFill>
              </a:rPr>
              <a:t>clear learning • plateau near episode 800</a:t>
            </a:r>
            <a:endParaRPr lang="en-US" sz="1150" dirty="0"/>
          </a:p>
        </p:txBody>
      </p:sp>
      <p:sp>
        <p:nvSpPr>
          <p:cNvPr id="16" name="Text 13"/>
          <p:cNvSpPr/>
          <p:nvPr/>
        </p:nvSpPr>
        <p:spPr>
          <a:xfrm>
            <a:off x="594360" y="6181344"/>
            <a:ext cx="10972800" cy="201168"/>
          </a:xfrm>
          <a:prstGeom prst="rect">
            <a:avLst/>
          </a:prstGeom>
          <a:noFill/>
          <a:ln/>
        </p:spPr>
        <p:txBody>
          <a:bodyPr wrap="square" lIns="0" tIns="0" rIns="0" bIns="0" rtlCol="0" anchor="ctr"/>
          <a:lstStyle/>
          <a:p>
            <a:pPr indent="0" marL="0">
              <a:buNone/>
            </a:pPr>
            <a:r>
              <a:rPr lang="en-US" sz="850" i="1" dirty="0">
                <a:solidFill>
                  <a:srgbClr val="64748B"/>
                </a:solidFill>
              </a:rPr>
              <a:t>Seed 42. Values from outputs/training_summary.txt in the repository.</a:t>
            </a:r>
            <a:endParaRPr lang="en-US" sz="85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8138160" cy="411480"/>
          </a:xfrm>
          <a:prstGeom prst="rect">
            <a:avLst/>
          </a:prstGeom>
          <a:noFill/>
          <a:ln/>
        </p:spPr>
        <p:txBody>
          <a:bodyPr wrap="square" lIns="0" tIns="0" rIns="0" bIns="0" rtlCol="0" anchor="ctr"/>
          <a:lstStyle/>
          <a:p>
            <a:pPr indent="0" marL="0">
              <a:buNone/>
            </a:pPr>
            <a:r>
              <a:rPr lang="en-US" sz="2600" b="1" dirty="0">
                <a:solidFill>
                  <a:srgbClr val="0F172A"/>
                </a:solidFill>
                <a:latin typeface="Aptos Display" pitchFamily="34" charset="0"/>
                <a:ea typeface="Aptos Display" pitchFamily="34" charset="-122"/>
                <a:cs typeface="Aptos Display" pitchFamily="34" charset="-120"/>
              </a:rPr>
              <a:t>Diagnostics and Interpretation</a:t>
            </a:r>
            <a:endParaRPr lang="en-US" sz="2600" dirty="0"/>
          </a:p>
        </p:txBody>
      </p:sp>
      <p:sp>
        <p:nvSpPr>
          <p:cNvPr id="3" name="Text 1"/>
          <p:cNvSpPr/>
          <p:nvPr/>
        </p:nvSpPr>
        <p:spPr>
          <a:xfrm>
            <a:off x="585216" y="822960"/>
            <a:ext cx="9875520" cy="274320"/>
          </a:xfrm>
          <a:prstGeom prst="rect">
            <a:avLst/>
          </a:prstGeom>
          <a:noFill/>
          <a:ln/>
        </p:spPr>
        <p:txBody>
          <a:bodyPr wrap="square" lIns="0" tIns="0" rIns="0" bIns="0" rtlCol="0" anchor="ctr"/>
          <a:lstStyle/>
          <a:p>
            <a:pPr indent="0" marL="0">
              <a:buNone/>
            </a:pPr>
            <a:r>
              <a:rPr lang="en-US" sz="1250" dirty="0">
                <a:solidFill>
                  <a:srgbClr val="64748B"/>
                </a:solidFill>
              </a:rPr>
              <a:t>The critic converged and every policy update stayed bounded</a:t>
            </a:r>
            <a:endParaRPr lang="en-US" sz="1250" dirty="0"/>
          </a:p>
        </p:txBody>
      </p:sp>
      <p:pic>
        <p:nvPicPr>
          <p:cNvPr id="4" name="Image 0" descr="PPO diagnostics: policy loss, value loss, entropy, clip fraction, approximate KL, and final angle error">    </p:cNvPr>
          <p:cNvPicPr>
            <a:picLocks noChangeAspect="1"/>
          </p:cNvPicPr>
          <p:nvPr/>
        </p:nvPicPr>
        <p:blipFill>
          <a:blip r:embed="rId1"/>
          <a:stretch>
            <a:fillRect/>
          </a:stretch>
        </p:blipFill>
        <p:spPr>
          <a:xfrm>
            <a:off x="658368" y="1376962"/>
            <a:ext cx="7086600" cy="3838900"/>
          </a:xfrm>
          <a:prstGeom prst="rect">
            <a:avLst/>
          </a:prstGeom>
        </p:spPr>
      </p:pic>
      <p:sp>
        <p:nvSpPr>
          <p:cNvPr id="5" name="Shape 2"/>
          <p:cNvSpPr/>
          <p:nvPr/>
        </p:nvSpPr>
        <p:spPr>
          <a:xfrm>
            <a:off x="8065008" y="1261872"/>
            <a:ext cx="3383280" cy="1234440"/>
          </a:xfrm>
          <a:prstGeom prst="roundRect">
            <a:avLst>
              <a:gd name="adj" fmla="val 5185"/>
            </a:avLst>
          </a:prstGeom>
          <a:solidFill>
            <a:srgbClr val="FFFFFF"/>
          </a:solidFill>
          <a:ln w="12700">
            <a:solidFill>
              <a:srgbClr val="E2E8F0"/>
            </a:solidFill>
            <a:prstDash val="solid"/>
          </a:ln>
        </p:spPr>
      </p:sp>
      <p:sp>
        <p:nvSpPr>
          <p:cNvPr id="6" name="Shape 3"/>
          <p:cNvSpPr/>
          <p:nvPr/>
        </p:nvSpPr>
        <p:spPr>
          <a:xfrm>
            <a:off x="8065008" y="1261872"/>
            <a:ext cx="73152" cy="1234440"/>
          </a:xfrm>
          <a:prstGeom prst="rect">
            <a:avLst/>
          </a:prstGeom>
          <a:solidFill>
            <a:srgbClr val="F59E0B"/>
          </a:solidFill>
          <a:ln w="12700">
            <a:solidFill>
              <a:srgbClr val="F59E0B"/>
            </a:solidFill>
            <a:prstDash val="solid"/>
          </a:ln>
        </p:spPr>
      </p:sp>
      <p:sp>
        <p:nvSpPr>
          <p:cNvPr id="7" name="Text 4"/>
          <p:cNvSpPr/>
          <p:nvPr/>
        </p:nvSpPr>
        <p:spPr>
          <a:xfrm>
            <a:off x="8266176" y="1426464"/>
            <a:ext cx="3072384" cy="274320"/>
          </a:xfrm>
          <a:prstGeom prst="rect">
            <a:avLst/>
          </a:prstGeom>
          <a:noFill/>
          <a:ln/>
        </p:spPr>
        <p:txBody>
          <a:bodyPr wrap="square" lIns="0" tIns="0" rIns="0" bIns="0" rtlCol="0" anchor="ctr"/>
          <a:lstStyle/>
          <a:p>
            <a:pPr indent="0" marL="0">
              <a:buNone/>
            </a:pPr>
            <a:r>
              <a:rPr lang="en-US" sz="1600" b="1" dirty="0">
                <a:solidFill>
                  <a:srgbClr val="0F172A"/>
                </a:solidFill>
              </a:rPr>
              <a:t>Value loss</a:t>
            </a:r>
            <a:endParaRPr lang="en-US" sz="1600" dirty="0"/>
          </a:p>
        </p:txBody>
      </p:sp>
      <p:sp>
        <p:nvSpPr>
          <p:cNvPr id="8" name="Text 5"/>
          <p:cNvSpPr/>
          <p:nvPr/>
        </p:nvSpPr>
        <p:spPr>
          <a:xfrm>
            <a:off x="8266176" y="1792224"/>
            <a:ext cx="3035808" cy="57607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Fell from ≈50 to 0.06: the critic learned accurate values. An early-version spike was a 32-step-batch bug.</a:t>
            </a:r>
            <a:endParaRPr lang="en-US" sz="1200" dirty="0"/>
          </a:p>
        </p:txBody>
      </p:sp>
      <p:sp>
        <p:nvSpPr>
          <p:cNvPr id="9" name="Shape 6"/>
          <p:cNvSpPr/>
          <p:nvPr/>
        </p:nvSpPr>
        <p:spPr>
          <a:xfrm>
            <a:off x="8065008" y="2724912"/>
            <a:ext cx="3383280" cy="1234440"/>
          </a:xfrm>
          <a:prstGeom prst="roundRect">
            <a:avLst>
              <a:gd name="adj" fmla="val 5185"/>
            </a:avLst>
          </a:prstGeom>
          <a:solidFill>
            <a:srgbClr val="FFFFFF"/>
          </a:solidFill>
          <a:ln w="12700">
            <a:solidFill>
              <a:srgbClr val="E2E8F0"/>
            </a:solidFill>
            <a:prstDash val="solid"/>
          </a:ln>
        </p:spPr>
      </p:sp>
      <p:sp>
        <p:nvSpPr>
          <p:cNvPr id="10" name="Shape 7"/>
          <p:cNvSpPr/>
          <p:nvPr/>
        </p:nvSpPr>
        <p:spPr>
          <a:xfrm>
            <a:off x="8065008" y="2724912"/>
            <a:ext cx="73152" cy="1234440"/>
          </a:xfrm>
          <a:prstGeom prst="rect">
            <a:avLst/>
          </a:prstGeom>
          <a:solidFill>
            <a:srgbClr val="0EA5A4"/>
          </a:solidFill>
          <a:ln w="12700">
            <a:solidFill>
              <a:srgbClr val="0EA5A4"/>
            </a:solidFill>
            <a:prstDash val="solid"/>
          </a:ln>
        </p:spPr>
      </p:sp>
      <p:sp>
        <p:nvSpPr>
          <p:cNvPr id="11" name="Text 8"/>
          <p:cNvSpPr/>
          <p:nvPr/>
        </p:nvSpPr>
        <p:spPr>
          <a:xfrm>
            <a:off x="8266176" y="2889504"/>
            <a:ext cx="3072384" cy="274320"/>
          </a:xfrm>
          <a:prstGeom prst="rect">
            <a:avLst/>
          </a:prstGeom>
          <a:noFill/>
          <a:ln/>
        </p:spPr>
        <p:txBody>
          <a:bodyPr wrap="square" lIns="0" tIns="0" rIns="0" bIns="0" rtlCol="0" anchor="ctr"/>
          <a:lstStyle/>
          <a:p>
            <a:pPr indent="0" marL="0">
              <a:buNone/>
            </a:pPr>
            <a:r>
              <a:rPr lang="en-US" sz="1600" b="1" dirty="0">
                <a:solidFill>
                  <a:srgbClr val="0F172A"/>
                </a:solidFill>
              </a:rPr>
              <a:t>Entropy</a:t>
            </a:r>
            <a:endParaRPr lang="en-US" sz="1600" dirty="0"/>
          </a:p>
        </p:txBody>
      </p:sp>
      <p:sp>
        <p:nvSpPr>
          <p:cNvPr id="12" name="Text 9"/>
          <p:cNvSpPr/>
          <p:nvPr/>
        </p:nvSpPr>
        <p:spPr>
          <a:xfrm>
            <a:off x="8266176" y="3255264"/>
            <a:ext cx="3035808" cy="57607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Declined from 0.92 to 0.61 as the Gaussian policy became more confident.</a:t>
            </a:r>
            <a:endParaRPr lang="en-US" sz="1200" dirty="0"/>
          </a:p>
        </p:txBody>
      </p:sp>
      <p:sp>
        <p:nvSpPr>
          <p:cNvPr id="13" name="Shape 10"/>
          <p:cNvSpPr/>
          <p:nvPr/>
        </p:nvSpPr>
        <p:spPr>
          <a:xfrm>
            <a:off x="8065008" y="4187952"/>
            <a:ext cx="3383280" cy="1234440"/>
          </a:xfrm>
          <a:prstGeom prst="roundRect">
            <a:avLst>
              <a:gd name="adj" fmla="val 5185"/>
            </a:avLst>
          </a:prstGeom>
          <a:solidFill>
            <a:srgbClr val="FFFFFF"/>
          </a:solidFill>
          <a:ln w="12700">
            <a:solidFill>
              <a:srgbClr val="E2E8F0"/>
            </a:solidFill>
            <a:prstDash val="solid"/>
          </a:ln>
        </p:spPr>
      </p:sp>
      <p:sp>
        <p:nvSpPr>
          <p:cNvPr id="14" name="Shape 11"/>
          <p:cNvSpPr/>
          <p:nvPr/>
        </p:nvSpPr>
        <p:spPr>
          <a:xfrm>
            <a:off x="8065008" y="4187952"/>
            <a:ext cx="73152" cy="1234440"/>
          </a:xfrm>
          <a:prstGeom prst="rect">
            <a:avLst/>
          </a:prstGeom>
          <a:solidFill>
            <a:srgbClr val="DC2626"/>
          </a:solidFill>
          <a:ln w="12700">
            <a:solidFill>
              <a:srgbClr val="DC2626"/>
            </a:solidFill>
            <a:prstDash val="solid"/>
          </a:ln>
        </p:spPr>
      </p:sp>
      <p:sp>
        <p:nvSpPr>
          <p:cNvPr id="15" name="Text 12"/>
          <p:cNvSpPr/>
          <p:nvPr/>
        </p:nvSpPr>
        <p:spPr>
          <a:xfrm>
            <a:off x="8266176" y="4352544"/>
            <a:ext cx="3072384" cy="274320"/>
          </a:xfrm>
          <a:prstGeom prst="rect">
            <a:avLst/>
          </a:prstGeom>
          <a:noFill/>
          <a:ln/>
        </p:spPr>
        <p:txBody>
          <a:bodyPr wrap="square" lIns="0" tIns="0" rIns="0" bIns="0" rtlCol="0" anchor="ctr"/>
          <a:lstStyle/>
          <a:p>
            <a:pPr indent="0" marL="0">
              <a:buNone/>
            </a:pPr>
            <a:r>
              <a:rPr lang="en-US" sz="1600" b="1" dirty="0">
                <a:solidFill>
                  <a:srgbClr val="0F172A"/>
                </a:solidFill>
              </a:rPr>
              <a:t>Clip fraction and KL</a:t>
            </a:r>
            <a:endParaRPr lang="en-US" sz="1600" dirty="0"/>
          </a:p>
        </p:txBody>
      </p:sp>
      <p:sp>
        <p:nvSpPr>
          <p:cNvPr id="16" name="Text 13"/>
          <p:cNvSpPr/>
          <p:nvPr/>
        </p:nvSpPr>
        <p:spPr>
          <a:xfrm>
            <a:off x="8266176" y="4718304"/>
            <a:ext cx="3035808" cy="57607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KL stayed below 0.03 on every update; clip fraction mostly 0.02–0.15, so updates were bounded.</a:t>
            </a:r>
            <a:endParaRPr lang="en-US" sz="120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8138160" cy="411480"/>
          </a:xfrm>
          <a:prstGeom prst="rect">
            <a:avLst/>
          </a:prstGeom>
          <a:noFill/>
          <a:ln/>
        </p:spPr>
        <p:txBody>
          <a:bodyPr wrap="square" lIns="0" tIns="0" rIns="0" bIns="0" rtlCol="0" anchor="ctr"/>
          <a:lstStyle/>
          <a:p>
            <a:pPr indent="0" marL="0">
              <a:buNone/>
            </a:pPr>
            <a:r>
              <a:rPr lang="en-US" sz="2600" b="1" dirty="0">
                <a:solidFill>
                  <a:srgbClr val="0F172A"/>
                </a:solidFill>
                <a:latin typeface="Aptos Display" pitchFamily="34" charset="0"/>
                <a:ea typeface="Aptos Display" pitchFamily="34" charset="-122"/>
                <a:cs typeface="Aptos Display" pitchFamily="34" charset="-120"/>
              </a:rPr>
              <a:t>Evaluation and Ablation</a:t>
            </a:r>
            <a:endParaRPr lang="en-US" sz="2600" dirty="0"/>
          </a:p>
        </p:txBody>
      </p:sp>
      <p:sp>
        <p:nvSpPr>
          <p:cNvPr id="3" name="Text 1"/>
          <p:cNvSpPr/>
          <p:nvPr/>
        </p:nvSpPr>
        <p:spPr>
          <a:xfrm>
            <a:off x="585216" y="822960"/>
            <a:ext cx="9875520" cy="274320"/>
          </a:xfrm>
          <a:prstGeom prst="rect">
            <a:avLst/>
          </a:prstGeom>
          <a:noFill/>
          <a:ln/>
        </p:spPr>
        <p:txBody>
          <a:bodyPr wrap="square" lIns="0" tIns="0" rIns="0" bIns="0" rtlCol="0" anchor="ctr"/>
          <a:lstStyle/>
          <a:p>
            <a:pPr indent="0" marL="0">
              <a:buNone/>
            </a:pPr>
            <a:r>
              <a:rPr lang="en-US" sz="1250" dirty="0">
                <a:solidFill>
                  <a:srgbClr val="64748B"/>
                </a:solidFill>
              </a:rPr>
              <a:t>Held-out performance vs. baselines, and what clipping and GAE contribute</a:t>
            </a:r>
            <a:endParaRPr lang="en-US" sz="1250" dirty="0"/>
          </a:p>
        </p:txBody>
      </p:sp>
      <p:pic>
        <p:nvPicPr>
          <p:cNvPr id="4" name="Image 0" descr="Ablation of clipping and GAE lambda, three seeds per variant, mean and standard deviation">    </p:cNvPr>
          <p:cNvPicPr>
            <a:picLocks noChangeAspect="1"/>
          </p:cNvPicPr>
          <p:nvPr/>
        </p:nvPicPr>
        <p:blipFill>
          <a:blip r:embed="rId1"/>
          <a:stretch>
            <a:fillRect/>
          </a:stretch>
        </p:blipFill>
        <p:spPr>
          <a:xfrm>
            <a:off x="658368" y="1234440"/>
            <a:ext cx="7726680" cy="4343400"/>
          </a:xfrm>
          <a:prstGeom prst="rect">
            <a:avLst/>
          </a:prstGeom>
        </p:spPr>
      </p:pic>
      <p:sp>
        <p:nvSpPr>
          <p:cNvPr id="5" name="Shape 2"/>
          <p:cNvSpPr/>
          <p:nvPr/>
        </p:nvSpPr>
        <p:spPr>
          <a:xfrm>
            <a:off x="8668512" y="1508760"/>
            <a:ext cx="2697480" cy="868680"/>
          </a:xfrm>
          <a:prstGeom prst="roundRect">
            <a:avLst>
              <a:gd name="adj" fmla="val 6316"/>
            </a:avLst>
          </a:prstGeom>
          <a:solidFill>
            <a:srgbClr val="FFFFFF"/>
          </a:solidFill>
          <a:ln w="12700">
            <a:solidFill>
              <a:srgbClr val="E2E8F0"/>
            </a:solidFill>
            <a:prstDash val="solid"/>
          </a:ln>
        </p:spPr>
      </p:sp>
      <p:sp>
        <p:nvSpPr>
          <p:cNvPr id="6" name="Text 3"/>
          <p:cNvSpPr/>
          <p:nvPr/>
        </p:nvSpPr>
        <p:spPr>
          <a:xfrm>
            <a:off x="8805672" y="1655064"/>
            <a:ext cx="2423160" cy="320040"/>
          </a:xfrm>
          <a:prstGeom prst="rect">
            <a:avLst/>
          </a:prstGeom>
          <a:noFill/>
          <a:ln/>
        </p:spPr>
        <p:txBody>
          <a:bodyPr wrap="square" lIns="0" tIns="0" rIns="0" bIns="0" rtlCol="0" anchor="ctr"/>
          <a:lstStyle/>
          <a:p>
            <a:pPr algn="ctr" indent="0" marL="0">
              <a:buNone/>
            </a:pPr>
            <a:r>
              <a:rPr lang="en-US" sz="2200" b="1" dirty="0">
                <a:solidFill>
                  <a:srgbClr val="64748B"/>
                </a:solidFill>
              </a:rPr>
              <a:t>100%</a:t>
            </a:r>
            <a:endParaRPr lang="en-US" sz="2200" dirty="0"/>
          </a:p>
        </p:txBody>
      </p:sp>
      <p:sp>
        <p:nvSpPr>
          <p:cNvPr id="7" name="Text 4"/>
          <p:cNvSpPr/>
          <p:nvPr/>
        </p:nvSpPr>
        <p:spPr>
          <a:xfrm>
            <a:off x="8778240" y="2039112"/>
            <a:ext cx="2478024" cy="182880"/>
          </a:xfrm>
          <a:prstGeom prst="rect">
            <a:avLst/>
          </a:prstGeom>
          <a:noFill/>
          <a:ln/>
        </p:spPr>
        <p:txBody>
          <a:bodyPr wrap="square" lIns="0" tIns="0" rIns="0" bIns="0" rtlCol="0" anchor="ctr"/>
          <a:lstStyle/>
          <a:p>
            <a:pPr algn="ctr" indent="0" marL="0">
              <a:buNone/>
            </a:pPr>
            <a:r>
              <a:rPr lang="en-US" sz="1050" dirty="0">
                <a:solidFill>
                  <a:srgbClr val="64748B"/>
                </a:solidFill>
              </a:rPr>
              <a:t>PPO success, 50 held-out episodes</a:t>
            </a:r>
            <a:endParaRPr lang="en-US" sz="1050" dirty="0"/>
          </a:p>
        </p:txBody>
      </p:sp>
      <p:sp>
        <p:nvSpPr>
          <p:cNvPr id="8" name="Shape 5"/>
          <p:cNvSpPr/>
          <p:nvPr/>
        </p:nvSpPr>
        <p:spPr>
          <a:xfrm>
            <a:off x="8668512" y="2670048"/>
            <a:ext cx="2697480" cy="868680"/>
          </a:xfrm>
          <a:prstGeom prst="roundRect">
            <a:avLst>
              <a:gd name="adj" fmla="val 6316"/>
            </a:avLst>
          </a:prstGeom>
          <a:solidFill>
            <a:srgbClr val="FFFFFF"/>
          </a:solidFill>
          <a:ln w="12700">
            <a:solidFill>
              <a:srgbClr val="E2E8F0"/>
            </a:solidFill>
            <a:prstDash val="solid"/>
          </a:ln>
        </p:spPr>
      </p:sp>
      <p:sp>
        <p:nvSpPr>
          <p:cNvPr id="9" name="Text 6"/>
          <p:cNvSpPr/>
          <p:nvPr/>
        </p:nvSpPr>
        <p:spPr>
          <a:xfrm>
            <a:off x="8805672" y="2816352"/>
            <a:ext cx="2423160" cy="320040"/>
          </a:xfrm>
          <a:prstGeom prst="rect">
            <a:avLst/>
          </a:prstGeom>
          <a:noFill/>
          <a:ln/>
        </p:spPr>
        <p:txBody>
          <a:bodyPr wrap="square" lIns="0" tIns="0" rIns="0" bIns="0" rtlCol="0" anchor="ctr"/>
          <a:lstStyle/>
          <a:p>
            <a:pPr algn="ctr" indent="0" marL="0">
              <a:buNone/>
            </a:pPr>
            <a:r>
              <a:rPr lang="en-US" sz="2200" b="1" dirty="0">
                <a:solidFill>
                  <a:srgbClr val="0EA5A4"/>
                </a:solidFill>
              </a:rPr>
              <a:t>4% / 2%</a:t>
            </a:r>
            <a:endParaRPr lang="en-US" sz="2200" dirty="0"/>
          </a:p>
        </p:txBody>
      </p:sp>
      <p:sp>
        <p:nvSpPr>
          <p:cNvPr id="10" name="Text 7"/>
          <p:cNvSpPr/>
          <p:nvPr/>
        </p:nvSpPr>
        <p:spPr>
          <a:xfrm>
            <a:off x="8778240" y="3200400"/>
            <a:ext cx="2478024" cy="182880"/>
          </a:xfrm>
          <a:prstGeom prst="rect">
            <a:avLst/>
          </a:prstGeom>
          <a:noFill/>
          <a:ln/>
        </p:spPr>
        <p:txBody>
          <a:bodyPr wrap="square" lIns="0" tIns="0" rIns="0" bIns="0" rtlCol="0" anchor="ctr"/>
          <a:lstStyle/>
          <a:p>
            <a:pPr algn="ctr" indent="0" marL="0">
              <a:buNone/>
            </a:pPr>
            <a:r>
              <a:rPr lang="en-US" sz="1050" dirty="0">
                <a:solidFill>
                  <a:srgbClr val="64748B"/>
                </a:solidFill>
              </a:rPr>
              <a:t>Random / zero-torque success</a:t>
            </a:r>
            <a:endParaRPr lang="en-US" sz="1050" dirty="0"/>
          </a:p>
        </p:txBody>
      </p:sp>
      <p:sp>
        <p:nvSpPr>
          <p:cNvPr id="11" name="Shape 8"/>
          <p:cNvSpPr/>
          <p:nvPr/>
        </p:nvSpPr>
        <p:spPr>
          <a:xfrm>
            <a:off x="8668512" y="3831336"/>
            <a:ext cx="2697480" cy="868680"/>
          </a:xfrm>
          <a:prstGeom prst="roundRect">
            <a:avLst>
              <a:gd name="adj" fmla="val 6316"/>
            </a:avLst>
          </a:prstGeom>
          <a:solidFill>
            <a:srgbClr val="FFFFFF"/>
          </a:solidFill>
          <a:ln w="12700">
            <a:solidFill>
              <a:srgbClr val="E2E8F0"/>
            </a:solidFill>
            <a:prstDash val="solid"/>
          </a:ln>
        </p:spPr>
      </p:sp>
      <p:sp>
        <p:nvSpPr>
          <p:cNvPr id="12" name="Text 9"/>
          <p:cNvSpPr/>
          <p:nvPr/>
        </p:nvSpPr>
        <p:spPr>
          <a:xfrm>
            <a:off x="8805672" y="3977640"/>
            <a:ext cx="2423160" cy="320040"/>
          </a:xfrm>
          <a:prstGeom prst="rect">
            <a:avLst/>
          </a:prstGeom>
          <a:noFill/>
          <a:ln/>
        </p:spPr>
        <p:txBody>
          <a:bodyPr wrap="square" lIns="0" tIns="0" rIns="0" bIns="0" rtlCol="0" anchor="ctr"/>
          <a:lstStyle/>
          <a:p>
            <a:pPr algn="ctr" indent="0" marL="0">
              <a:buNone/>
            </a:pPr>
            <a:r>
              <a:rPr lang="en-US" sz="2200" b="1" dirty="0">
                <a:solidFill>
                  <a:srgbClr val="F59E0B"/>
                </a:solidFill>
              </a:rPr>
              <a:t>52.7%</a:t>
            </a:r>
            <a:endParaRPr lang="en-US" sz="2200" dirty="0"/>
          </a:p>
        </p:txBody>
      </p:sp>
      <p:sp>
        <p:nvSpPr>
          <p:cNvPr id="13" name="Text 10"/>
          <p:cNvSpPr/>
          <p:nvPr/>
        </p:nvSpPr>
        <p:spPr>
          <a:xfrm>
            <a:off x="8778240" y="4361688"/>
            <a:ext cx="2478024" cy="182880"/>
          </a:xfrm>
          <a:prstGeom prst="rect">
            <a:avLst/>
          </a:prstGeom>
          <a:noFill/>
          <a:ln/>
        </p:spPr>
        <p:txBody>
          <a:bodyPr wrap="square" lIns="0" tIns="0" rIns="0" bIns="0" rtlCol="0" anchor="ctr"/>
          <a:lstStyle/>
          <a:p>
            <a:pPr algn="ctr" indent="0" marL="0">
              <a:buNone/>
            </a:pPr>
            <a:r>
              <a:rPr lang="en-US" sz="1050" dirty="0">
                <a:solidFill>
                  <a:srgbClr val="64748B"/>
                </a:solidFill>
              </a:rPr>
              <a:t>Success without clipping</a:t>
            </a:r>
            <a:endParaRPr lang="en-US" sz="1050" dirty="0"/>
          </a:p>
        </p:txBody>
      </p:sp>
      <p:sp>
        <p:nvSpPr>
          <p:cNvPr id="14" name="Shape 11"/>
          <p:cNvSpPr/>
          <p:nvPr/>
        </p:nvSpPr>
        <p:spPr>
          <a:xfrm>
            <a:off x="8732520" y="5010912"/>
            <a:ext cx="2560320" cy="658368"/>
          </a:xfrm>
          <a:prstGeom prst="roundRect">
            <a:avLst>
              <a:gd name="adj" fmla="val 5556"/>
            </a:avLst>
          </a:prstGeom>
          <a:solidFill>
            <a:srgbClr val="F1F5F9"/>
          </a:solidFill>
          <a:ln w="12700">
            <a:solidFill>
              <a:srgbClr val="E2E8F0"/>
            </a:solidFill>
            <a:prstDash val="solid"/>
          </a:ln>
        </p:spPr>
      </p:sp>
      <p:sp>
        <p:nvSpPr>
          <p:cNvPr id="15" name="Text 12"/>
          <p:cNvSpPr/>
          <p:nvPr/>
        </p:nvSpPr>
        <p:spPr>
          <a:xfrm>
            <a:off x="8942832" y="5148072"/>
            <a:ext cx="2148840" cy="384048"/>
          </a:xfrm>
          <a:prstGeom prst="rect">
            <a:avLst/>
          </a:prstGeom>
          <a:noFill/>
          <a:ln/>
        </p:spPr>
        <p:txBody>
          <a:bodyPr wrap="square" lIns="0" tIns="0" rIns="0" bIns="0" rtlCol="0" anchor="ctr"/>
          <a:lstStyle/>
          <a:p>
            <a:pPr algn="ctr" indent="0" marL="0">
              <a:buNone/>
            </a:pPr>
            <a:r>
              <a:rPr lang="en-US" sz="1150" b="1" dirty="0">
                <a:solidFill>
                  <a:srgbClr val="0F172A"/>
                </a:solidFill>
              </a:rPr>
              <a:t>GAE λ = 0.95 → 98.7%</a:t>
            </a:r>
            <a:endParaRPr lang="en-US" sz="1150" dirty="0"/>
          </a:p>
          <a:p>
            <a:pPr algn="ctr" indent="0" marL="0">
              <a:buNone/>
            </a:pPr>
            <a:r>
              <a:rPr lang="en-US" sz="1150" b="1" dirty="0">
                <a:solidFill>
                  <a:srgbClr val="0F172A"/>
                </a:solidFill>
              </a:rPr>
              <a:t>λ = 0 → 0% success</a:t>
            </a:r>
            <a:endParaRPr lang="en-US" sz="1150" dirty="0"/>
          </a:p>
        </p:txBody>
      </p:sp>
      <p:sp>
        <p:nvSpPr>
          <p:cNvPr id="16" name="Text 13"/>
          <p:cNvSpPr/>
          <p:nvPr/>
        </p:nvSpPr>
        <p:spPr>
          <a:xfrm>
            <a:off x="594360" y="6181344"/>
            <a:ext cx="10972800" cy="201168"/>
          </a:xfrm>
          <a:prstGeom prst="rect">
            <a:avLst/>
          </a:prstGeom>
          <a:noFill/>
          <a:ln/>
        </p:spPr>
        <p:txBody>
          <a:bodyPr wrap="square" lIns="0" tIns="0" rIns="0" bIns="0" rtlCol="0" anchor="ctr"/>
          <a:lstStyle/>
          <a:p>
            <a:pPr indent="0" marL="0">
              <a:buNone/>
            </a:pPr>
            <a:r>
              <a:rPr lang="en-US" sz="850" i="1" dirty="0">
                <a:solidFill>
                  <a:srgbClr val="64748B"/>
                </a:solidFill>
              </a:rPr>
              <a:t>Success = final error &lt; 0.1 rad. Ablation: mean of 3 seeds per variant (outputs/ablation_results.csv).</a:t>
            </a:r>
            <a:endParaRPr lang="en-US" sz="85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84048"/>
            <a:ext cx="8138160" cy="411480"/>
          </a:xfrm>
          <a:prstGeom prst="rect">
            <a:avLst/>
          </a:prstGeom>
          <a:noFill/>
          <a:ln/>
        </p:spPr>
        <p:txBody>
          <a:bodyPr wrap="square" lIns="0" tIns="0" rIns="0" bIns="0" rtlCol="0" anchor="ctr"/>
          <a:lstStyle/>
          <a:p>
            <a:pPr indent="0" marL="0">
              <a:buNone/>
            </a:pPr>
            <a:r>
              <a:rPr lang="en-US" sz="2600" b="1" dirty="0">
                <a:solidFill>
                  <a:srgbClr val="0F172A"/>
                </a:solidFill>
                <a:latin typeface="Aptos Display" pitchFamily="34" charset="0"/>
                <a:ea typeface="Aptos Display" pitchFamily="34" charset="-122"/>
                <a:cs typeface="Aptos Display" pitchFamily="34" charset="-120"/>
              </a:rPr>
              <a:t>Demonstration of the Learned Policy</a:t>
            </a:r>
            <a:endParaRPr lang="en-US" sz="2600" dirty="0"/>
          </a:p>
        </p:txBody>
      </p:sp>
      <p:sp>
        <p:nvSpPr>
          <p:cNvPr id="3" name="Text 1"/>
          <p:cNvSpPr/>
          <p:nvPr/>
        </p:nvSpPr>
        <p:spPr>
          <a:xfrm>
            <a:off x="585216" y="822960"/>
            <a:ext cx="9875520" cy="274320"/>
          </a:xfrm>
          <a:prstGeom prst="rect">
            <a:avLst/>
          </a:prstGeom>
          <a:noFill/>
          <a:ln/>
        </p:spPr>
        <p:txBody>
          <a:bodyPr wrap="square" lIns="0" tIns="0" rIns="0" bIns="0" rtlCol="0" anchor="ctr"/>
          <a:lstStyle/>
          <a:p>
            <a:pPr indent="0" marL="0">
              <a:buNone/>
            </a:pPr>
            <a:r>
              <a:rPr lang="en-US" sz="1250" dirty="0">
                <a:solidFill>
                  <a:srgbClr val="64748B"/>
                </a:solidFill>
              </a:rPr>
              <a:t>First four held-out episodes, deterministic policy, saved final model</a:t>
            </a:r>
            <a:endParaRPr lang="en-US" sz="1250" dirty="0"/>
          </a:p>
        </p:txBody>
      </p:sp>
      <p:pic>
        <p:nvPicPr>
          <p:cNvPr id="4" name="Image 0" descr="Demonstration of the trained PPO policy on four held-out episodes">    </p:cNvPr>
          <p:cNvPicPr>
            <a:picLocks noChangeAspect="1"/>
          </p:cNvPicPr>
          <p:nvPr/>
        </p:nvPicPr>
        <p:blipFill>
          <a:blip r:embed="rId1"/>
          <a:stretch>
            <a:fillRect/>
          </a:stretch>
        </p:blipFill>
        <p:spPr>
          <a:xfrm>
            <a:off x="658368" y="1453038"/>
            <a:ext cx="7269480" cy="4089083"/>
          </a:xfrm>
          <a:prstGeom prst="rect">
            <a:avLst/>
          </a:prstGeom>
        </p:spPr>
      </p:pic>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658368" y="1453038"/>
            <a:ext cx="7269480" cy="4089083"/>
          </a:xfrm>
          <a:prstGeom prst="rect">
            <a:avLst/>
          </a:prstGeom>
        </p:spPr>
      </p:pic>
      <p:sp>
        <p:nvSpPr>
          <p:cNvPr id="6" name="Shape 2"/>
          <p:cNvSpPr/>
          <p:nvPr/>
        </p:nvSpPr>
        <p:spPr>
          <a:xfrm>
            <a:off x="8275320" y="1508760"/>
            <a:ext cx="2743200" cy="868680"/>
          </a:xfrm>
          <a:prstGeom prst="roundRect">
            <a:avLst>
              <a:gd name="adj" fmla="val 6316"/>
            </a:avLst>
          </a:prstGeom>
          <a:solidFill>
            <a:srgbClr val="FFFFFF"/>
          </a:solidFill>
          <a:ln w="12700">
            <a:solidFill>
              <a:srgbClr val="E2E8F0"/>
            </a:solidFill>
            <a:prstDash val="solid"/>
          </a:ln>
        </p:spPr>
      </p:sp>
      <p:sp>
        <p:nvSpPr>
          <p:cNvPr id="7" name="Text 3"/>
          <p:cNvSpPr/>
          <p:nvPr/>
        </p:nvSpPr>
        <p:spPr>
          <a:xfrm>
            <a:off x="8412480" y="1655064"/>
            <a:ext cx="2468880" cy="320040"/>
          </a:xfrm>
          <a:prstGeom prst="rect">
            <a:avLst/>
          </a:prstGeom>
          <a:noFill/>
          <a:ln/>
        </p:spPr>
        <p:txBody>
          <a:bodyPr wrap="square" lIns="0" tIns="0" rIns="0" bIns="0" rtlCol="0" anchor="ctr"/>
          <a:lstStyle/>
          <a:p>
            <a:pPr algn="ctr" indent="0" marL="0">
              <a:buNone/>
            </a:pPr>
            <a:r>
              <a:rPr lang="en-US" sz="2200" b="1" dirty="0">
                <a:solidFill>
                  <a:srgbClr val="2563EB"/>
                </a:solidFill>
              </a:rPr>
              <a:t>4 / 4</a:t>
            </a:r>
            <a:endParaRPr lang="en-US" sz="2200" dirty="0"/>
          </a:p>
        </p:txBody>
      </p:sp>
      <p:sp>
        <p:nvSpPr>
          <p:cNvPr id="8" name="Text 4"/>
          <p:cNvSpPr/>
          <p:nvPr/>
        </p:nvSpPr>
        <p:spPr>
          <a:xfrm>
            <a:off x="8385048" y="2039112"/>
            <a:ext cx="2523744" cy="182880"/>
          </a:xfrm>
          <a:prstGeom prst="rect">
            <a:avLst/>
          </a:prstGeom>
          <a:noFill/>
          <a:ln/>
        </p:spPr>
        <p:txBody>
          <a:bodyPr wrap="square" lIns="0" tIns="0" rIns="0" bIns="0" rtlCol="0" anchor="ctr"/>
          <a:lstStyle/>
          <a:p>
            <a:pPr algn="ctr" indent="0" marL="0">
              <a:buNone/>
            </a:pPr>
            <a:r>
              <a:rPr lang="en-US" sz="1050" dirty="0">
                <a:solidFill>
                  <a:srgbClr val="64748B"/>
                </a:solidFill>
              </a:rPr>
              <a:t>Episodes reached the target</a:t>
            </a:r>
            <a:endParaRPr lang="en-US" sz="1050" dirty="0"/>
          </a:p>
        </p:txBody>
      </p:sp>
      <p:sp>
        <p:nvSpPr>
          <p:cNvPr id="9" name="Shape 5"/>
          <p:cNvSpPr/>
          <p:nvPr/>
        </p:nvSpPr>
        <p:spPr>
          <a:xfrm>
            <a:off x="8275320" y="2670048"/>
            <a:ext cx="2743200" cy="868680"/>
          </a:xfrm>
          <a:prstGeom prst="roundRect">
            <a:avLst>
              <a:gd name="adj" fmla="val 6316"/>
            </a:avLst>
          </a:prstGeom>
          <a:solidFill>
            <a:srgbClr val="FFFFFF"/>
          </a:solidFill>
          <a:ln w="12700">
            <a:solidFill>
              <a:srgbClr val="E2E8F0"/>
            </a:solidFill>
            <a:prstDash val="solid"/>
          </a:ln>
        </p:spPr>
      </p:sp>
      <p:sp>
        <p:nvSpPr>
          <p:cNvPr id="10" name="Text 6"/>
          <p:cNvSpPr/>
          <p:nvPr/>
        </p:nvSpPr>
        <p:spPr>
          <a:xfrm>
            <a:off x="8412480" y="2816352"/>
            <a:ext cx="2468880" cy="320040"/>
          </a:xfrm>
          <a:prstGeom prst="rect">
            <a:avLst/>
          </a:prstGeom>
          <a:noFill/>
          <a:ln/>
        </p:spPr>
        <p:txBody>
          <a:bodyPr wrap="square" lIns="0" tIns="0" rIns="0" bIns="0" rtlCol="0" anchor="ctr"/>
          <a:lstStyle/>
          <a:p>
            <a:pPr algn="ctr" indent="0" marL="0">
              <a:buNone/>
            </a:pPr>
            <a:r>
              <a:rPr lang="en-US" sz="2200" b="1" dirty="0">
                <a:solidFill>
                  <a:srgbClr val="0EA5A4"/>
                </a:solidFill>
              </a:rPr>
              <a:t>≤ 0.031 rad</a:t>
            </a:r>
            <a:endParaRPr lang="en-US" sz="2200" dirty="0"/>
          </a:p>
        </p:txBody>
      </p:sp>
      <p:sp>
        <p:nvSpPr>
          <p:cNvPr id="11" name="Text 7"/>
          <p:cNvSpPr/>
          <p:nvPr/>
        </p:nvSpPr>
        <p:spPr>
          <a:xfrm>
            <a:off x="8385048" y="3200400"/>
            <a:ext cx="2523744" cy="182880"/>
          </a:xfrm>
          <a:prstGeom prst="rect">
            <a:avLst/>
          </a:prstGeom>
          <a:noFill/>
          <a:ln/>
        </p:spPr>
        <p:txBody>
          <a:bodyPr wrap="square" lIns="0" tIns="0" rIns="0" bIns="0" rtlCol="0" anchor="ctr"/>
          <a:lstStyle/>
          <a:p>
            <a:pPr algn="ctr" indent="0" marL="0">
              <a:buNone/>
            </a:pPr>
            <a:r>
              <a:rPr lang="en-US" sz="1050" dirty="0">
                <a:solidFill>
                  <a:srgbClr val="64748B"/>
                </a:solidFill>
              </a:rPr>
              <a:t>Final angle error</a:t>
            </a:r>
            <a:endParaRPr lang="en-US" sz="1050" dirty="0"/>
          </a:p>
        </p:txBody>
      </p:sp>
      <p:sp>
        <p:nvSpPr>
          <p:cNvPr id="12" name="Shape 8"/>
          <p:cNvSpPr/>
          <p:nvPr/>
        </p:nvSpPr>
        <p:spPr>
          <a:xfrm>
            <a:off x="8275320" y="3831336"/>
            <a:ext cx="2743200" cy="868680"/>
          </a:xfrm>
          <a:prstGeom prst="roundRect">
            <a:avLst>
              <a:gd name="adj" fmla="val 6316"/>
            </a:avLst>
          </a:prstGeom>
          <a:solidFill>
            <a:srgbClr val="FFFFFF"/>
          </a:solidFill>
          <a:ln w="12700">
            <a:solidFill>
              <a:srgbClr val="E2E8F0"/>
            </a:solidFill>
            <a:prstDash val="solid"/>
          </a:ln>
        </p:spPr>
      </p:sp>
      <p:sp>
        <p:nvSpPr>
          <p:cNvPr id="13" name="Text 9"/>
          <p:cNvSpPr/>
          <p:nvPr/>
        </p:nvSpPr>
        <p:spPr>
          <a:xfrm>
            <a:off x="8412480" y="3977640"/>
            <a:ext cx="2468880" cy="320040"/>
          </a:xfrm>
          <a:prstGeom prst="rect">
            <a:avLst/>
          </a:prstGeom>
          <a:noFill/>
          <a:ln/>
        </p:spPr>
        <p:txBody>
          <a:bodyPr wrap="square" lIns="0" tIns="0" rIns="0" bIns="0" rtlCol="0" anchor="ctr"/>
          <a:lstStyle/>
          <a:p>
            <a:pPr algn="ctr" indent="0" marL="0">
              <a:buNone/>
            </a:pPr>
            <a:r>
              <a:rPr lang="en-US" sz="2200" b="1" dirty="0">
                <a:solidFill>
                  <a:srgbClr val="F59E0B"/>
                </a:solidFill>
              </a:rPr>
              <a:t>2.37 rad</a:t>
            </a:r>
            <a:endParaRPr lang="en-US" sz="2200" dirty="0"/>
          </a:p>
        </p:txBody>
      </p:sp>
      <p:sp>
        <p:nvSpPr>
          <p:cNvPr id="14" name="Text 10"/>
          <p:cNvSpPr/>
          <p:nvPr/>
        </p:nvSpPr>
        <p:spPr>
          <a:xfrm>
            <a:off x="8385048" y="4361688"/>
            <a:ext cx="2523744" cy="182880"/>
          </a:xfrm>
          <a:prstGeom prst="rect">
            <a:avLst/>
          </a:prstGeom>
          <a:noFill/>
          <a:ln/>
        </p:spPr>
        <p:txBody>
          <a:bodyPr wrap="square" lIns="0" tIns="0" rIns="0" bIns="0" rtlCol="0" anchor="ctr"/>
          <a:lstStyle/>
          <a:p>
            <a:pPr algn="ctr" indent="0" marL="0">
              <a:buNone/>
            </a:pPr>
            <a:r>
              <a:rPr lang="en-US" sz="1050" dirty="0">
                <a:solidFill>
                  <a:srgbClr val="64748B"/>
                </a:solidFill>
              </a:rPr>
              <a:t>Largest starting error</a:t>
            </a:r>
            <a:endParaRPr lang="en-US" sz="1050" dirty="0"/>
          </a:p>
        </p:txBody>
      </p:sp>
      <p:sp>
        <p:nvSpPr>
          <p:cNvPr id="15" name="Shape 11"/>
          <p:cNvSpPr/>
          <p:nvPr/>
        </p:nvSpPr>
        <p:spPr>
          <a:xfrm>
            <a:off x="8156448" y="4983480"/>
            <a:ext cx="2971800" cy="685800"/>
          </a:xfrm>
          <a:prstGeom prst="roundRect">
            <a:avLst>
              <a:gd name="adj" fmla="val 5333"/>
            </a:avLst>
          </a:prstGeom>
          <a:solidFill>
            <a:srgbClr val="FEE2E2"/>
          </a:solidFill>
          <a:ln w="12700">
            <a:solidFill>
              <a:srgbClr val="FCA5A5"/>
            </a:solidFill>
            <a:prstDash val="solid"/>
          </a:ln>
        </p:spPr>
      </p:sp>
      <p:sp>
        <p:nvSpPr>
          <p:cNvPr id="16" name="Text 12"/>
          <p:cNvSpPr/>
          <p:nvPr/>
        </p:nvSpPr>
        <p:spPr>
          <a:xfrm>
            <a:off x="8366760" y="5184648"/>
            <a:ext cx="2560320" cy="274320"/>
          </a:xfrm>
          <a:prstGeom prst="rect">
            <a:avLst/>
          </a:prstGeom>
          <a:noFill/>
          <a:ln/>
        </p:spPr>
        <p:txBody>
          <a:bodyPr wrap="square" lIns="0" tIns="0" rIns="0" bIns="0" rtlCol="0" anchor="ctr"/>
          <a:lstStyle/>
          <a:p>
            <a:pPr algn="ctr" indent="0" marL="0">
              <a:buNone/>
            </a:pPr>
            <a:r>
              <a:rPr lang="en-US" sz="1120" b="1" dirty="0">
                <a:solidFill>
                  <a:srgbClr val="991B1B"/>
                </a:solidFill>
              </a:rPr>
              <a:t>Not hand-picked: held-out seeds 10000–10003</a:t>
            </a:r>
            <a:endParaRPr lang="en-US" sz="112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84048"/>
            <a:ext cx="8138160" cy="411480"/>
          </a:xfrm>
          <a:prstGeom prst="rect">
            <a:avLst/>
          </a:prstGeom>
          <a:noFill/>
          <a:ln/>
        </p:spPr>
        <p:txBody>
          <a:bodyPr wrap="square" lIns="0" tIns="0" rIns="0" bIns="0" rtlCol="0" anchor="ctr"/>
          <a:lstStyle/>
          <a:p>
            <a:pPr indent="0" marL="0">
              <a:buNone/>
            </a:pPr>
            <a:r>
              <a:rPr lang="en-US" sz="2600" b="1" dirty="0">
                <a:solidFill>
                  <a:srgbClr val="0F172A"/>
                </a:solidFill>
                <a:latin typeface="Aptos Display" pitchFamily="34" charset="0"/>
                <a:ea typeface="Aptos Display" pitchFamily="34" charset="-122"/>
                <a:cs typeface="Aptos Display" pitchFamily="34" charset="-120"/>
              </a:rPr>
              <a:t>Strengths and Limitations</a:t>
            </a:r>
            <a:endParaRPr lang="en-US" sz="2600" dirty="0"/>
          </a:p>
        </p:txBody>
      </p:sp>
      <p:sp>
        <p:nvSpPr>
          <p:cNvPr id="3" name="Text 1"/>
          <p:cNvSpPr/>
          <p:nvPr/>
        </p:nvSpPr>
        <p:spPr>
          <a:xfrm>
            <a:off x="585216" y="822960"/>
            <a:ext cx="9875520" cy="274320"/>
          </a:xfrm>
          <a:prstGeom prst="rect">
            <a:avLst/>
          </a:prstGeom>
          <a:noFill/>
          <a:ln/>
        </p:spPr>
        <p:txBody>
          <a:bodyPr wrap="square" lIns="0" tIns="0" rIns="0" bIns="0" rtlCol="0" anchor="ctr"/>
          <a:lstStyle/>
          <a:p>
            <a:pPr indent="0" marL="0">
              <a:buNone/>
            </a:pPr>
            <a:r>
              <a:rPr lang="en-US" sz="1250" dirty="0">
                <a:solidFill>
                  <a:srgbClr val="64748B"/>
                </a:solidFill>
              </a:rPr>
              <a:t>What the project demonstrates — and what it does not</a:t>
            </a:r>
            <a:endParaRPr lang="en-US" sz="1250" dirty="0"/>
          </a:p>
        </p:txBody>
      </p:sp>
      <p:sp>
        <p:nvSpPr>
          <p:cNvPr id="4" name="Shape 2"/>
          <p:cNvSpPr/>
          <p:nvPr/>
        </p:nvSpPr>
        <p:spPr>
          <a:xfrm>
            <a:off x="685800" y="1234440"/>
            <a:ext cx="5303520" cy="4434840"/>
          </a:xfrm>
          <a:prstGeom prst="roundRect">
            <a:avLst>
              <a:gd name="adj" fmla="val 1031"/>
            </a:avLst>
          </a:prstGeom>
          <a:solidFill>
            <a:srgbClr val="ECFDF5"/>
          </a:solidFill>
          <a:ln w="12700">
            <a:solidFill>
              <a:srgbClr val="A7F3D0"/>
            </a:solidFill>
            <a:prstDash val="solid"/>
          </a:ln>
        </p:spPr>
      </p:sp>
      <p:sp>
        <p:nvSpPr>
          <p:cNvPr id="5" name="Text 3"/>
          <p:cNvSpPr/>
          <p:nvPr/>
        </p:nvSpPr>
        <p:spPr>
          <a:xfrm>
            <a:off x="960120" y="1517904"/>
            <a:ext cx="2194560" cy="274320"/>
          </a:xfrm>
          <a:prstGeom prst="rect">
            <a:avLst/>
          </a:prstGeom>
          <a:noFill/>
          <a:ln/>
        </p:spPr>
        <p:txBody>
          <a:bodyPr wrap="square" lIns="0" tIns="0" rIns="0" bIns="0" rtlCol="0" anchor="ctr"/>
          <a:lstStyle/>
          <a:p>
            <a:pPr indent="0" marL="0">
              <a:buNone/>
            </a:pPr>
            <a:r>
              <a:rPr lang="en-US" sz="1800" b="1" dirty="0">
                <a:solidFill>
                  <a:srgbClr val="065F46"/>
                </a:solidFill>
              </a:rPr>
              <a:t>STRENGTHS</a:t>
            </a:r>
            <a:endParaRPr lang="en-US" sz="1800" dirty="0"/>
          </a:p>
        </p:txBody>
      </p:sp>
      <p:sp>
        <p:nvSpPr>
          <p:cNvPr id="6" name="Text 4"/>
          <p:cNvSpPr/>
          <p:nvPr/>
        </p:nvSpPr>
        <p:spPr>
          <a:xfrm>
            <a:off x="960120" y="2011680"/>
            <a:ext cx="4572000" cy="274320"/>
          </a:xfrm>
          <a:prstGeom prst="rect">
            <a:avLst/>
          </a:prstGeom>
          <a:noFill/>
          <a:ln/>
        </p:spPr>
        <p:txBody>
          <a:bodyPr wrap="square" lIns="0" tIns="0" rIns="0" bIns="0" rtlCol="0" anchor="ctr"/>
          <a:lstStyle/>
          <a:p>
            <a:pPr indent="0" marL="0">
              <a:buNone/>
            </a:pPr>
            <a:r>
              <a:rPr lang="en-US" sz="1300" dirty="0">
                <a:solidFill>
                  <a:srgbClr val="334155"/>
                </a:solidFill>
              </a:rPr>
              <a:t>✓  End-to-end PPO pipeline with diagnostics</a:t>
            </a:r>
            <a:endParaRPr lang="en-US" sz="1300" dirty="0"/>
          </a:p>
        </p:txBody>
      </p:sp>
      <p:sp>
        <p:nvSpPr>
          <p:cNvPr id="7" name="Text 5"/>
          <p:cNvSpPr/>
          <p:nvPr/>
        </p:nvSpPr>
        <p:spPr>
          <a:xfrm>
            <a:off x="960120" y="2578608"/>
            <a:ext cx="4572000" cy="274320"/>
          </a:xfrm>
          <a:prstGeom prst="rect">
            <a:avLst/>
          </a:prstGeom>
          <a:noFill/>
          <a:ln/>
        </p:spPr>
        <p:txBody>
          <a:bodyPr wrap="square" lIns="0" tIns="0" rIns="0" bIns="0" rtlCol="0" anchor="ctr"/>
          <a:lstStyle/>
          <a:p>
            <a:pPr indent="0" marL="0">
              <a:buNone/>
            </a:pPr>
            <a:r>
              <a:rPr lang="en-US" sz="1300" dirty="0">
                <a:solidFill>
                  <a:srgbClr val="334155"/>
                </a:solidFill>
              </a:rPr>
              <a:t>✓  100% held-out success vs. 4% random</a:t>
            </a:r>
            <a:endParaRPr lang="en-US" sz="1300" dirty="0"/>
          </a:p>
        </p:txBody>
      </p:sp>
      <p:sp>
        <p:nvSpPr>
          <p:cNvPr id="8" name="Text 6"/>
          <p:cNvSpPr/>
          <p:nvPr/>
        </p:nvSpPr>
        <p:spPr>
          <a:xfrm>
            <a:off x="960120" y="3145536"/>
            <a:ext cx="4572000" cy="274320"/>
          </a:xfrm>
          <a:prstGeom prst="rect">
            <a:avLst/>
          </a:prstGeom>
          <a:noFill/>
          <a:ln/>
        </p:spPr>
        <p:txBody>
          <a:bodyPr wrap="square" lIns="0" tIns="0" rIns="0" bIns="0" rtlCol="0" anchor="ctr"/>
          <a:lstStyle/>
          <a:p>
            <a:pPr indent="0" marL="0">
              <a:buNone/>
            </a:pPr>
            <a:r>
              <a:rPr lang="en-US" sz="1300" dirty="0">
                <a:solidFill>
                  <a:srgbClr val="334155"/>
                </a:solidFill>
              </a:rPr>
              <a:t>✓  3-seed ablation of clipping and GAE</a:t>
            </a:r>
            <a:endParaRPr lang="en-US" sz="1300" dirty="0"/>
          </a:p>
        </p:txBody>
      </p:sp>
      <p:sp>
        <p:nvSpPr>
          <p:cNvPr id="9" name="Text 7"/>
          <p:cNvSpPr/>
          <p:nvPr/>
        </p:nvSpPr>
        <p:spPr>
          <a:xfrm>
            <a:off x="960120" y="3712464"/>
            <a:ext cx="4572000" cy="274320"/>
          </a:xfrm>
          <a:prstGeom prst="rect">
            <a:avLst/>
          </a:prstGeom>
          <a:noFill/>
          <a:ln/>
        </p:spPr>
        <p:txBody>
          <a:bodyPr wrap="square" lIns="0" tIns="0" rIns="0" bIns="0" rtlCol="0" anchor="ctr"/>
          <a:lstStyle/>
          <a:p>
            <a:pPr indent="0" marL="0">
              <a:buNone/>
            </a:pPr>
            <a:r>
              <a:rPr lang="en-US" sz="1300" dirty="0">
                <a:solidFill>
                  <a:srgbClr val="334155"/>
                </a:solidFill>
              </a:rPr>
              <a:t>✓  Reproducible: seeds, saved model, demo script</a:t>
            </a:r>
            <a:endParaRPr lang="en-US" sz="1300" dirty="0"/>
          </a:p>
        </p:txBody>
      </p:sp>
      <p:sp>
        <p:nvSpPr>
          <p:cNvPr id="10" name="Text 8"/>
          <p:cNvSpPr/>
          <p:nvPr/>
        </p:nvSpPr>
        <p:spPr>
          <a:xfrm>
            <a:off x="960120" y="4279392"/>
            <a:ext cx="4572000" cy="274320"/>
          </a:xfrm>
          <a:prstGeom prst="rect">
            <a:avLst/>
          </a:prstGeom>
          <a:noFill/>
          <a:ln/>
        </p:spPr>
        <p:txBody>
          <a:bodyPr wrap="square" lIns="0" tIns="0" rIns="0" bIns="0" rtlCol="0" anchor="ctr"/>
          <a:lstStyle/>
          <a:p>
            <a:pPr indent="0" marL="0">
              <a:buNone/>
            </a:pPr>
            <a:r>
              <a:rPr lang="en-US" sz="1300" dirty="0">
                <a:solidFill>
                  <a:srgbClr val="334155"/>
                </a:solidFill>
              </a:rPr>
              <a:t>✓  Small dependency footprint</a:t>
            </a:r>
            <a:endParaRPr lang="en-US" sz="1300" dirty="0"/>
          </a:p>
        </p:txBody>
      </p:sp>
      <p:sp>
        <p:nvSpPr>
          <p:cNvPr id="11" name="Shape 9"/>
          <p:cNvSpPr/>
          <p:nvPr/>
        </p:nvSpPr>
        <p:spPr>
          <a:xfrm>
            <a:off x="6217920" y="1234440"/>
            <a:ext cx="5303520" cy="4434840"/>
          </a:xfrm>
          <a:prstGeom prst="roundRect">
            <a:avLst>
              <a:gd name="adj" fmla="val 1031"/>
            </a:avLst>
          </a:prstGeom>
          <a:solidFill>
            <a:srgbClr val="FFF7ED"/>
          </a:solidFill>
          <a:ln w="12700">
            <a:solidFill>
              <a:srgbClr val="FED7AA"/>
            </a:solidFill>
            <a:prstDash val="solid"/>
          </a:ln>
        </p:spPr>
      </p:sp>
      <p:sp>
        <p:nvSpPr>
          <p:cNvPr id="12" name="Text 10"/>
          <p:cNvSpPr/>
          <p:nvPr/>
        </p:nvSpPr>
        <p:spPr>
          <a:xfrm>
            <a:off x="6492240" y="1517904"/>
            <a:ext cx="2194560" cy="274320"/>
          </a:xfrm>
          <a:prstGeom prst="rect">
            <a:avLst/>
          </a:prstGeom>
          <a:noFill/>
          <a:ln/>
        </p:spPr>
        <p:txBody>
          <a:bodyPr wrap="square" lIns="0" tIns="0" rIns="0" bIns="0" rtlCol="0" anchor="ctr"/>
          <a:lstStyle/>
          <a:p>
            <a:pPr indent="0" marL="0">
              <a:buNone/>
            </a:pPr>
            <a:r>
              <a:rPr lang="en-US" sz="1800" b="1" dirty="0">
                <a:solidFill>
                  <a:srgbClr val="9A3412"/>
                </a:solidFill>
              </a:rPr>
              <a:t>LIMITATIONS</a:t>
            </a:r>
            <a:endParaRPr lang="en-US" sz="1800" dirty="0"/>
          </a:p>
        </p:txBody>
      </p:sp>
      <p:sp>
        <p:nvSpPr>
          <p:cNvPr id="13" name="Text 11"/>
          <p:cNvSpPr/>
          <p:nvPr/>
        </p:nvSpPr>
        <p:spPr>
          <a:xfrm>
            <a:off x="6492240" y="2011680"/>
            <a:ext cx="4572000" cy="274320"/>
          </a:xfrm>
          <a:prstGeom prst="rect">
            <a:avLst/>
          </a:prstGeom>
          <a:noFill/>
          <a:ln/>
        </p:spPr>
        <p:txBody>
          <a:bodyPr wrap="square" lIns="0" tIns="0" rIns="0" bIns="0" rtlCol="0" anchor="ctr"/>
          <a:lstStyle/>
          <a:p>
            <a:pPr indent="0" marL="0">
              <a:buNone/>
            </a:pPr>
            <a:r>
              <a:rPr lang="en-US" sz="1300" dirty="0">
                <a:solidFill>
                  <a:srgbClr val="334155"/>
                </a:solidFill>
              </a:rPr>
              <a:t>•  Simplified single-joint physics</a:t>
            </a:r>
            <a:endParaRPr lang="en-US" sz="1300" dirty="0"/>
          </a:p>
        </p:txBody>
      </p:sp>
      <p:sp>
        <p:nvSpPr>
          <p:cNvPr id="14" name="Text 12"/>
          <p:cNvSpPr/>
          <p:nvPr/>
        </p:nvSpPr>
        <p:spPr>
          <a:xfrm>
            <a:off x="6492240" y="2578608"/>
            <a:ext cx="4572000" cy="274320"/>
          </a:xfrm>
          <a:prstGeom prst="rect">
            <a:avLst/>
          </a:prstGeom>
          <a:noFill/>
          <a:ln/>
        </p:spPr>
        <p:txBody>
          <a:bodyPr wrap="square" lIns="0" tIns="0" rIns="0" bIns="0" rtlCol="0" anchor="ctr"/>
          <a:lstStyle/>
          <a:p>
            <a:pPr indent="0" marL="0">
              <a:buNone/>
            </a:pPr>
            <a:r>
              <a:rPr lang="en-US" sz="1300" dirty="0">
                <a:solidFill>
                  <a:srgbClr val="334155"/>
                </a:solidFill>
              </a:rPr>
              <a:t>•  Small steady-state offset (≈0.02 rad)</a:t>
            </a:r>
            <a:endParaRPr lang="en-US" sz="1300" dirty="0"/>
          </a:p>
        </p:txBody>
      </p:sp>
      <p:sp>
        <p:nvSpPr>
          <p:cNvPr id="15" name="Text 13"/>
          <p:cNvSpPr/>
          <p:nvPr/>
        </p:nvSpPr>
        <p:spPr>
          <a:xfrm>
            <a:off x="6492240" y="3145536"/>
            <a:ext cx="4572000" cy="274320"/>
          </a:xfrm>
          <a:prstGeom prst="rect">
            <a:avLst/>
          </a:prstGeom>
          <a:noFill/>
          <a:ln/>
        </p:spPr>
        <p:txBody>
          <a:bodyPr wrap="square" lIns="0" tIns="0" rIns="0" bIns="0" rtlCol="0" anchor="ctr"/>
          <a:lstStyle/>
          <a:p>
            <a:pPr indent="0" marL="0">
              <a:buNone/>
            </a:pPr>
            <a:r>
              <a:rPr lang="en-US" sz="1300" dirty="0">
                <a:solidFill>
                  <a:srgbClr val="334155"/>
                </a:solidFill>
              </a:rPr>
              <a:t>•  Main run uses one seed (ablation uses 3)</a:t>
            </a:r>
            <a:endParaRPr lang="en-US" sz="1300" dirty="0"/>
          </a:p>
        </p:txBody>
      </p:sp>
      <p:sp>
        <p:nvSpPr>
          <p:cNvPr id="16" name="Text 14"/>
          <p:cNvSpPr/>
          <p:nvPr/>
        </p:nvSpPr>
        <p:spPr>
          <a:xfrm>
            <a:off x="6492240" y="3712464"/>
            <a:ext cx="4572000" cy="274320"/>
          </a:xfrm>
          <a:prstGeom prst="rect">
            <a:avLst/>
          </a:prstGeom>
          <a:noFill/>
          <a:ln/>
        </p:spPr>
        <p:txBody>
          <a:bodyPr wrap="square" lIns="0" tIns="0" rIns="0" bIns="0" rtlCol="0" anchor="ctr"/>
          <a:lstStyle/>
          <a:p>
            <a:pPr indent="0" marL="0">
              <a:buNone/>
            </a:pPr>
            <a:r>
              <a:rPr lang="en-US" sz="1300" dirty="0">
                <a:solidFill>
                  <a:srgbClr val="334155"/>
                </a:solidFill>
              </a:rPr>
              <a:t>•  No PPO vs. SAC/DDPG baseline</a:t>
            </a:r>
            <a:endParaRPr lang="en-US" sz="1300" dirty="0"/>
          </a:p>
        </p:txBody>
      </p:sp>
      <p:sp>
        <p:nvSpPr>
          <p:cNvPr id="17" name="Text 15"/>
          <p:cNvSpPr/>
          <p:nvPr/>
        </p:nvSpPr>
        <p:spPr>
          <a:xfrm>
            <a:off x="6492240" y="4279392"/>
            <a:ext cx="4572000" cy="274320"/>
          </a:xfrm>
          <a:prstGeom prst="rect">
            <a:avLst/>
          </a:prstGeom>
          <a:noFill/>
          <a:ln/>
        </p:spPr>
        <p:txBody>
          <a:bodyPr wrap="square" lIns="0" tIns="0" rIns="0" bIns="0" rtlCol="0" anchor="ctr"/>
          <a:lstStyle/>
          <a:p>
            <a:pPr indent="0" marL="0">
              <a:buNone/>
            </a:pPr>
            <a:r>
              <a:rPr lang="en-US" sz="1300" dirty="0">
                <a:solidFill>
                  <a:srgbClr val="334155"/>
                </a:solidFill>
              </a:rPr>
              <a:t>•  No sensor noise or disturbances tested</a:t>
            </a:r>
            <a:endParaRPr lang="en-US" sz="130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84048"/>
            <a:ext cx="8138160" cy="411480"/>
          </a:xfrm>
          <a:prstGeom prst="rect">
            <a:avLst/>
          </a:prstGeom>
          <a:noFill/>
          <a:ln/>
        </p:spPr>
        <p:txBody>
          <a:bodyPr wrap="square" lIns="0" tIns="0" rIns="0" bIns="0" rtlCol="0" anchor="ctr"/>
          <a:lstStyle/>
          <a:p>
            <a:pPr indent="0" marL="0">
              <a:buNone/>
            </a:pPr>
            <a:r>
              <a:rPr lang="en-US" sz="2600" b="1" dirty="0">
                <a:solidFill>
                  <a:srgbClr val="0F172A"/>
                </a:solidFill>
                <a:latin typeface="Aptos Display" pitchFamily="34" charset="0"/>
                <a:ea typeface="Aptos Display" pitchFamily="34" charset="-122"/>
                <a:cs typeface="Aptos Display" pitchFamily="34" charset="-120"/>
              </a:rPr>
              <a:t>Ethical and Practical Considerations</a:t>
            </a:r>
            <a:endParaRPr lang="en-US" sz="2600" dirty="0"/>
          </a:p>
        </p:txBody>
      </p:sp>
      <p:sp>
        <p:nvSpPr>
          <p:cNvPr id="3" name="Text 1"/>
          <p:cNvSpPr/>
          <p:nvPr/>
        </p:nvSpPr>
        <p:spPr>
          <a:xfrm>
            <a:off x="585216" y="822960"/>
            <a:ext cx="9875520" cy="274320"/>
          </a:xfrm>
          <a:prstGeom prst="rect">
            <a:avLst/>
          </a:prstGeom>
          <a:noFill/>
          <a:ln/>
        </p:spPr>
        <p:txBody>
          <a:bodyPr wrap="square" lIns="0" tIns="0" rIns="0" bIns="0" rtlCol="0" anchor="ctr"/>
          <a:lstStyle/>
          <a:p>
            <a:pPr indent="0" marL="0">
              <a:buNone/>
            </a:pPr>
            <a:r>
              <a:rPr lang="en-US" sz="1250" dirty="0">
                <a:solidFill>
                  <a:srgbClr val="64748B"/>
                </a:solidFill>
              </a:rPr>
              <a:t>Safe deployment matters more than maximizing a simulated reward</a:t>
            </a:r>
            <a:endParaRPr lang="en-US" sz="1250" dirty="0"/>
          </a:p>
        </p:txBody>
      </p:sp>
      <p:sp>
        <p:nvSpPr>
          <p:cNvPr id="4" name="Shape 2"/>
          <p:cNvSpPr/>
          <p:nvPr/>
        </p:nvSpPr>
        <p:spPr>
          <a:xfrm>
            <a:off x="731520" y="1280160"/>
            <a:ext cx="2651760" cy="3474720"/>
          </a:xfrm>
          <a:prstGeom prst="roundRect">
            <a:avLst>
              <a:gd name="adj" fmla="val 2414"/>
            </a:avLst>
          </a:prstGeom>
          <a:solidFill>
            <a:srgbClr val="FFFFFF"/>
          </a:solidFill>
          <a:ln w="12700">
            <a:solidFill>
              <a:srgbClr val="E2E8F0"/>
            </a:solidFill>
            <a:prstDash val="solid"/>
          </a:ln>
        </p:spPr>
      </p:sp>
      <p:sp>
        <p:nvSpPr>
          <p:cNvPr id="5" name="Shape 3"/>
          <p:cNvSpPr/>
          <p:nvPr/>
        </p:nvSpPr>
        <p:spPr>
          <a:xfrm>
            <a:off x="731520" y="1280160"/>
            <a:ext cx="73152" cy="3474720"/>
          </a:xfrm>
          <a:prstGeom prst="rect">
            <a:avLst/>
          </a:prstGeom>
          <a:solidFill>
            <a:srgbClr val="DC2626"/>
          </a:solidFill>
          <a:ln w="12700">
            <a:solidFill>
              <a:srgbClr val="DC2626"/>
            </a:solidFill>
            <a:prstDash val="solid"/>
          </a:ln>
        </p:spPr>
      </p:sp>
      <p:sp>
        <p:nvSpPr>
          <p:cNvPr id="6" name="Text 4"/>
          <p:cNvSpPr/>
          <p:nvPr/>
        </p:nvSpPr>
        <p:spPr>
          <a:xfrm>
            <a:off x="932688" y="1444752"/>
            <a:ext cx="2340864" cy="274320"/>
          </a:xfrm>
          <a:prstGeom prst="rect">
            <a:avLst/>
          </a:prstGeom>
          <a:noFill/>
          <a:ln/>
        </p:spPr>
        <p:txBody>
          <a:bodyPr wrap="square" lIns="0" tIns="0" rIns="0" bIns="0" rtlCol="0" anchor="ctr"/>
          <a:lstStyle/>
          <a:p>
            <a:pPr indent="0" marL="0">
              <a:buNone/>
            </a:pPr>
            <a:r>
              <a:rPr lang="en-US" sz="1600" b="1" dirty="0">
                <a:solidFill>
                  <a:srgbClr val="0F172A"/>
                </a:solidFill>
              </a:rPr>
              <a:t>Safety</a:t>
            </a:r>
            <a:endParaRPr lang="en-US" sz="1600" dirty="0"/>
          </a:p>
        </p:txBody>
      </p:sp>
      <p:sp>
        <p:nvSpPr>
          <p:cNvPr id="7" name="Text 5"/>
          <p:cNvSpPr/>
          <p:nvPr/>
        </p:nvSpPr>
        <p:spPr>
          <a:xfrm>
            <a:off x="932688" y="1810512"/>
            <a:ext cx="2304288" cy="281635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Simulation success does not guarantee safe behavior on hardware. Use constraints, staged tests, and emergency-stop controls.</a:t>
            </a:r>
            <a:endParaRPr lang="en-US" sz="1200" dirty="0"/>
          </a:p>
        </p:txBody>
      </p:sp>
      <p:sp>
        <p:nvSpPr>
          <p:cNvPr id="8" name="Shape 6"/>
          <p:cNvSpPr/>
          <p:nvPr/>
        </p:nvSpPr>
        <p:spPr>
          <a:xfrm>
            <a:off x="3611880" y="1280160"/>
            <a:ext cx="2651760" cy="3474720"/>
          </a:xfrm>
          <a:prstGeom prst="roundRect">
            <a:avLst>
              <a:gd name="adj" fmla="val 2414"/>
            </a:avLst>
          </a:prstGeom>
          <a:solidFill>
            <a:srgbClr val="FFFFFF"/>
          </a:solidFill>
          <a:ln w="12700">
            <a:solidFill>
              <a:srgbClr val="E2E8F0"/>
            </a:solidFill>
            <a:prstDash val="solid"/>
          </a:ln>
        </p:spPr>
      </p:sp>
      <p:sp>
        <p:nvSpPr>
          <p:cNvPr id="9" name="Shape 7"/>
          <p:cNvSpPr/>
          <p:nvPr/>
        </p:nvSpPr>
        <p:spPr>
          <a:xfrm>
            <a:off x="3611880" y="1280160"/>
            <a:ext cx="73152" cy="3474720"/>
          </a:xfrm>
          <a:prstGeom prst="rect">
            <a:avLst/>
          </a:prstGeom>
          <a:solidFill>
            <a:srgbClr val="F59E0B"/>
          </a:solidFill>
          <a:ln w="12700">
            <a:solidFill>
              <a:srgbClr val="F59E0B"/>
            </a:solidFill>
            <a:prstDash val="solid"/>
          </a:ln>
        </p:spPr>
      </p:sp>
      <p:sp>
        <p:nvSpPr>
          <p:cNvPr id="10" name="Text 8"/>
          <p:cNvSpPr/>
          <p:nvPr/>
        </p:nvSpPr>
        <p:spPr>
          <a:xfrm>
            <a:off x="3813048" y="1444752"/>
            <a:ext cx="2340864" cy="274320"/>
          </a:xfrm>
          <a:prstGeom prst="rect">
            <a:avLst/>
          </a:prstGeom>
          <a:noFill/>
          <a:ln/>
        </p:spPr>
        <p:txBody>
          <a:bodyPr wrap="square" lIns="0" tIns="0" rIns="0" bIns="0" rtlCol="0" anchor="ctr"/>
          <a:lstStyle/>
          <a:p>
            <a:pPr indent="0" marL="0">
              <a:buNone/>
            </a:pPr>
            <a:r>
              <a:rPr lang="en-US" sz="1600" b="1" dirty="0">
                <a:solidFill>
                  <a:srgbClr val="0F172A"/>
                </a:solidFill>
              </a:rPr>
              <a:t>Reward specification</a:t>
            </a:r>
            <a:endParaRPr lang="en-US" sz="1600" dirty="0"/>
          </a:p>
        </p:txBody>
      </p:sp>
      <p:sp>
        <p:nvSpPr>
          <p:cNvPr id="11" name="Text 9"/>
          <p:cNvSpPr/>
          <p:nvPr/>
        </p:nvSpPr>
        <p:spPr>
          <a:xfrm>
            <a:off x="3813048" y="1810512"/>
            <a:ext cx="2304288" cy="281635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Poorly chosen rewards can create unintended behavior. Safety limits should be hard constraints, not optional bonuses.</a:t>
            </a:r>
            <a:endParaRPr lang="en-US" sz="1200" dirty="0"/>
          </a:p>
        </p:txBody>
      </p:sp>
      <p:sp>
        <p:nvSpPr>
          <p:cNvPr id="12" name="Shape 10"/>
          <p:cNvSpPr/>
          <p:nvPr/>
        </p:nvSpPr>
        <p:spPr>
          <a:xfrm>
            <a:off x="6492240" y="1280160"/>
            <a:ext cx="2651760" cy="3474720"/>
          </a:xfrm>
          <a:prstGeom prst="roundRect">
            <a:avLst>
              <a:gd name="adj" fmla="val 2414"/>
            </a:avLst>
          </a:prstGeom>
          <a:solidFill>
            <a:srgbClr val="FFFFFF"/>
          </a:solidFill>
          <a:ln w="12700">
            <a:solidFill>
              <a:srgbClr val="E2E8F0"/>
            </a:solidFill>
            <a:prstDash val="solid"/>
          </a:ln>
        </p:spPr>
      </p:sp>
      <p:sp>
        <p:nvSpPr>
          <p:cNvPr id="13" name="Shape 11"/>
          <p:cNvSpPr/>
          <p:nvPr/>
        </p:nvSpPr>
        <p:spPr>
          <a:xfrm>
            <a:off x="6492240" y="1280160"/>
            <a:ext cx="73152" cy="3474720"/>
          </a:xfrm>
          <a:prstGeom prst="rect">
            <a:avLst/>
          </a:prstGeom>
          <a:solidFill>
            <a:srgbClr val="2563EB"/>
          </a:solidFill>
          <a:ln w="12700">
            <a:solidFill>
              <a:srgbClr val="2563EB"/>
            </a:solidFill>
            <a:prstDash val="solid"/>
          </a:ln>
        </p:spPr>
      </p:sp>
      <p:sp>
        <p:nvSpPr>
          <p:cNvPr id="14" name="Text 12"/>
          <p:cNvSpPr/>
          <p:nvPr/>
        </p:nvSpPr>
        <p:spPr>
          <a:xfrm>
            <a:off x="6693408" y="1444752"/>
            <a:ext cx="2340864" cy="274320"/>
          </a:xfrm>
          <a:prstGeom prst="rect">
            <a:avLst/>
          </a:prstGeom>
          <a:noFill/>
          <a:ln/>
        </p:spPr>
        <p:txBody>
          <a:bodyPr wrap="square" lIns="0" tIns="0" rIns="0" bIns="0" rtlCol="0" anchor="ctr"/>
          <a:lstStyle/>
          <a:p>
            <a:pPr indent="0" marL="0">
              <a:buNone/>
            </a:pPr>
            <a:r>
              <a:rPr lang="en-US" sz="1600" b="1" dirty="0">
                <a:solidFill>
                  <a:srgbClr val="0F172A"/>
                </a:solidFill>
              </a:rPr>
              <a:t>Reliability</a:t>
            </a:r>
            <a:endParaRPr lang="en-US" sz="1600" dirty="0"/>
          </a:p>
        </p:txBody>
      </p:sp>
      <p:sp>
        <p:nvSpPr>
          <p:cNvPr id="15" name="Text 13"/>
          <p:cNvSpPr/>
          <p:nvPr/>
        </p:nvSpPr>
        <p:spPr>
          <a:xfrm>
            <a:off x="6693408" y="1810512"/>
            <a:ext cx="2304288" cy="281635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Evaluate disturbances, sensor noise, failure cases, and multiple random seeds—not only best-case trajectories.</a:t>
            </a:r>
            <a:endParaRPr lang="en-US" sz="1200" dirty="0"/>
          </a:p>
        </p:txBody>
      </p:sp>
      <p:sp>
        <p:nvSpPr>
          <p:cNvPr id="16" name="Shape 14"/>
          <p:cNvSpPr/>
          <p:nvPr/>
        </p:nvSpPr>
        <p:spPr>
          <a:xfrm>
            <a:off x="9372600" y="1280160"/>
            <a:ext cx="2103120" cy="3474720"/>
          </a:xfrm>
          <a:prstGeom prst="roundRect">
            <a:avLst>
              <a:gd name="adj" fmla="val 3043"/>
            </a:avLst>
          </a:prstGeom>
          <a:solidFill>
            <a:srgbClr val="FFFFFF"/>
          </a:solidFill>
          <a:ln w="12700">
            <a:solidFill>
              <a:srgbClr val="E2E8F0"/>
            </a:solidFill>
            <a:prstDash val="solid"/>
          </a:ln>
        </p:spPr>
      </p:sp>
      <p:sp>
        <p:nvSpPr>
          <p:cNvPr id="17" name="Shape 15"/>
          <p:cNvSpPr/>
          <p:nvPr/>
        </p:nvSpPr>
        <p:spPr>
          <a:xfrm>
            <a:off x="9372600" y="1280160"/>
            <a:ext cx="73152" cy="3474720"/>
          </a:xfrm>
          <a:prstGeom prst="rect">
            <a:avLst/>
          </a:prstGeom>
          <a:solidFill>
            <a:srgbClr val="0EA5A4"/>
          </a:solidFill>
          <a:ln w="12700">
            <a:solidFill>
              <a:srgbClr val="0EA5A4"/>
            </a:solidFill>
            <a:prstDash val="solid"/>
          </a:ln>
        </p:spPr>
      </p:sp>
      <p:sp>
        <p:nvSpPr>
          <p:cNvPr id="18" name="Text 16"/>
          <p:cNvSpPr/>
          <p:nvPr/>
        </p:nvSpPr>
        <p:spPr>
          <a:xfrm>
            <a:off x="9573768" y="1444752"/>
            <a:ext cx="1792224" cy="274320"/>
          </a:xfrm>
          <a:prstGeom prst="rect">
            <a:avLst/>
          </a:prstGeom>
          <a:noFill/>
          <a:ln/>
        </p:spPr>
        <p:txBody>
          <a:bodyPr wrap="square" lIns="0" tIns="0" rIns="0" bIns="0" rtlCol="0" anchor="ctr"/>
          <a:lstStyle/>
          <a:p>
            <a:pPr indent="0" marL="0">
              <a:buNone/>
            </a:pPr>
            <a:r>
              <a:rPr lang="en-US" sz="1600" b="1" dirty="0">
                <a:solidFill>
                  <a:srgbClr val="0F172A"/>
                </a:solidFill>
              </a:rPr>
              <a:t>Oversight</a:t>
            </a:r>
            <a:endParaRPr lang="en-US" sz="1600" dirty="0"/>
          </a:p>
        </p:txBody>
      </p:sp>
      <p:sp>
        <p:nvSpPr>
          <p:cNvPr id="19" name="Text 17"/>
          <p:cNvSpPr/>
          <p:nvPr/>
        </p:nvSpPr>
        <p:spPr>
          <a:xfrm>
            <a:off x="9573768" y="1810512"/>
            <a:ext cx="1755648" cy="2816352"/>
          </a:xfrm>
          <a:prstGeom prst="rect">
            <a:avLst/>
          </a:prstGeom>
          <a:noFill/>
          <a:ln/>
        </p:spPr>
        <p:txBody>
          <a:bodyPr wrap="square" lIns="254" tIns="254" rIns="254" bIns="254" rtlCol="0" anchor="ctr">
            <a:normAutofit/>
          </a:bodyPr>
          <a:lstStyle/>
          <a:p>
            <a:pPr indent="0" marL="0">
              <a:buNone/>
            </a:pPr>
            <a:r>
              <a:rPr lang="en-US" sz="1200" dirty="0">
                <a:solidFill>
                  <a:srgbClr val="334155"/>
                </a:solidFill>
              </a:rPr>
              <a:t>A human should remain able to monitor, interrupt, audit, and understand the controller before real-world use.</a:t>
            </a:r>
            <a:endParaRPr lang="en-US" sz="1200" dirty="0"/>
          </a:p>
        </p:txBody>
      </p:sp>
      <p:sp>
        <p:nvSpPr>
          <p:cNvPr id="20" name="Shape 18"/>
          <p:cNvSpPr/>
          <p:nvPr/>
        </p:nvSpPr>
        <p:spPr>
          <a:xfrm>
            <a:off x="1965960" y="5166360"/>
            <a:ext cx="8229600" cy="530352"/>
          </a:xfrm>
          <a:prstGeom prst="roundRect">
            <a:avLst>
              <a:gd name="adj" fmla="val 6897"/>
            </a:avLst>
          </a:prstGeom>
          <a:solidFill>
            <a:srgbClr val="F1F5F9"/>
          </a:solidFill>
          <a:ln w="12700">
            <a:solidFill>
              <a:srgbClr val="E2E8F0"/>
            </a:solidFill>
            <a:prstDash val="solid"/>
          </a:ln>
        </p:spPr>
      </p:sp>
      <p:sp>
        <p:nvSpPr>
          <p:cNvPr id="21" name="Text 19"/>
          <p:cNvSpPr/>
          <p:nvPr/>
        </p:nvSpPr>
        <p:spPr>
          <a:xfrm>
            <a:off x="2240280" y="5330952"/>
            <a:ext cx="7680960" cy="201168"/>
          </a:xfrm>
          <a:prstGeom prst="rect">
            <a:avLst/>
          </a:prstGeom>
          <a:noFill/>
          <a:ln/>
        </p:spPr>
        <p:txBody>
          <a:bodyPr wrap="square" lIns="0" tIns="0" rIns="0" bIns="0" rtlCol="0" anchor="ctr"/>
          <a:lstStyle/>
          <a:p>
            <a:pPr algn="ctr" indent="0" marL="0">
              <a:buNone/>
            </a:pPr>
            <a:r>
              <a:rPr lang="en-US" sz="1400" b="1" dirty="0">
                <a:solidFill>
                  <a:srgbClr val="0F172A"/>
                </a:solidFill>
              </a:rPr>
              <a:t>Practical rule: validate robustness before increasing autonomy.</a:t>
            </a:r>
            <a:endParaRPr lang="en-US" sz="140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84048"/>
            <a:ext cx="8138160" cy="411480"/>
          </a:xfrm>
          <a:prstGeom prst="rect">
            <a:avLst/>
          </a:prstGeom>
          <a:noFill/>
          <a:ln/>
        </p:spPr>
        <p:txBody>
          <a:bodyPr wrap="square" lIns="0" tIns="0" rIns="0" bIns="0" rtlCol="0" anchor="ctr"/>
          <a:lstStyle/>
          <a:p>
            <a:pPr indent="0" marL="0">
              <a:buNone/>
            </a:pPr>
            <a:r>
              <a:rPr lang="en-US" sz="2600" b="1" dirty="0">
                <a:solidFill>
                  <a:srgbClr val="0F172A"/>
                </a:solidFill>
                <a:latin typeface="Aptos Display" pitchFamily="34" charset="0"/>
                <a:ea typeface="Aptos Display" pitchFamily="34" charset="-122"/>
                <a:cs typeface="Aptos Display" pitchFamily="34" charset="-120"/>
              </a:rPr>
              <a:t>Conclusion and Future Work</a:t>
            </a:r>
            <a:endParaRPr lang="en-US" sz="2600" dirty="0"/>
          </a:p>
        </p:txBody>
      </p:sp>
      <p:sp>
        <p:nvSpPr>
          <p:cNvPr id="3" name="Text 1"/>
          <p:cNvSpPr/>
          <p:nvPr/>
        </p:nvSpPr>
        <p:spPr>
          <a:xfrm>
            <a:off x="585216" y="822960"/>
            <a:ext cx="9875520" cy="274320"/>
          </a:xfrm>
          <a:prstGeom prst="rect">
            <a:avLst/>
          </a:prstGeom>
          <a:noFill/>
          <a:ln/>
        </p:spPr>
        <p:txBody>
          <a:bodyPr wrap="square" lIns="0" tIns="0" rIns="0" bIns="0" rtlCol="0" anchor="ctr"/>
          <a:lstStyle/>
          <a:p>
            <a:pPr indent="0" marL="0">
              <a:buNone/>
            </a:pPr>
            <a:r>
              <a:rPr lang="en-US" sz="1250" dirty="0">
                <a:solidFill>
                  <a:srgbClr val="64748B"/>
                </a:solidFill>
              </a:rPr>
              <a:t>PPO learned accurate, stable reaching once the problem was framed correctly</a:t>
            </a:r>
            <a:endParaRPr lang="en-US" sz="1250" dirty="0"/>
          </a:p>
        </p:txBody>
      </p:sp>
      <p:sp>
        <p:nvSpPr>
          <p:cNvPr id="4" name="Shape 2"/>
          <p:cNvSpPr/>
          <p:nvPr/>
        </p:nvSpPr>
        <p:spPr>
          <a:xfrm>
            <a:off x="731520" y="1325880"/>
            <a:ext cx="5074920" cy="4297680"/>
          </a:xfrm>
          <a:prstGeom prst="roundRect">
            <a:avLst>
              <a:gd name="adj" fmla="val 1064"/>
            </a:avLst>
          </a:prstGeom>
          <a:solidFill>
            <a:srgbClr val="FFFFFF"/>
          </a:solidFill>
          <a:ln w="12700">
            <a:solidFill>
              <a:srgbClr val="E2E8F0"/>
            </a:solidFill>
            <a:prstDash val="solid"/>
          </a:ln>
        </p:spPr>
      </p:sp>
      <p:sp>
        <p:nvSpPr>
          <p:cNvPr id="5" name="Text 3"/>
          <p:cNvSpPr/>
          <p:nvPr/>
        </p:nvSpPr>
        <p:spPr>
          <a:xfrm>
            <a:off x="1005840" y="1600200"/>
            <a:ext cx="2011680" cy="274320"/>
          </a:xfrm>
          <a:prstGeom prst="rect">
            <a:avLst/>
          </a:prstGeom>
          <a:noFill/>
          <a:ln/>
        </p:spPr>
        <p:txBody>
          <a:bodyPr wrap="square" lIns="0" tIns="0" rIns="0" bIns="0" rtlCol="0" anchor="ctr"/>
          <a:lstStyle/>
          <a:p>
            <a:pPr indent="0" marL="0">
              <a:buNone/>
            </a:pPr>
            <a:r>
              <a:rPr lang="en-US" sz="1800" b="1" dirty="0">
                <a:solidFill>
                  <a:srgbClr val="0F172A"/>
                </a:solidFill>
              </a:rPr>
              <a:t>KEY FINDINGS</a:t>
            </a:r>
            <a:endParaRPr lang="en-US" sz="1800" dirty="0"/>
          </a:p>
        </p:txBody>
      </p:sp>
      <p:sp>
        <p:nvSpPr>
          <p:cNvPr id="6" name="Text 4"/>
          <p:cNvSpPr/>
          <p:nvPr/>
        </p:nvSpPr>
        <p:spPr>
          <a:xfrm>
            <a:off x="1005840" y="2148840"/>
            <a:ext cx="4297680" cy="320040"/>
          </a:xfrm>
          <a:prstGeom prst="rect">
            <a:avLst/>
          </a:prstGeom>
          <a:noFill/>
          <a:ln/>
        </p:spPr>
        <p:txBody>
          <a:bodyPr wrap="square" lIns="0" tIns="0" rIns="0" bIns="0" rtlCol="0" anchor="ctr"/>
          <a:lstStyle/>
          <a:p>
            <a:pPr indent="0" marL="0">
              <a:buNone/>
            </a:pPr>
            <a:r>
              <a:rPr lang="en-US" sz="1320" dirty="0">
                <a:solidFill>
                  <a:srgbClr val="334155"/>
                </a:solidFill>
              </a:rPr>
              <a:t>•  0.021 rad error; 100% held-out success</a:t>
            </a:r>
            <a:endParaRPr lang="en-US" sz="1320" dirty="0"/>
          </a:p>
        </p:txBody>
      </p:sp>
      <p:sp>
        <p:nvSpPr>
          <p:cNvPr id="7" name="Text 5"/>
          <p:cNvSpPr/>
          <p:nvPr/>
        </p:nvSpPr>
        <p:spPr>
          <a:xfrm>
            <a:off x="1005840" y="2761488"/>
            <a:ext cx="4297680" cy="320040"/>
          </a:xfrm>
          <a:prstGeom prst="rect">
            <a:avLst/>
          </a:prstGeom>
          <a:noFill/>
          <a:ln/>
        </p:spPr>
        <p:txBody>
          <a:bodyPr wrap="square" lIns="0" tIns="0" rIns="0" bIns="0" rtlCol="0" anchor="ctr"/>
          <a:lstStyle/>
          <a:p>
            <a:pPr indent="0" marL="0">
              <a:buNone/>
            </a:pPr>
            <a:r>
              <a:rPr lang="en-US" sz="1320" dirty="0">
                <a:solidFill>
                  <a:srgbClr val="334155"/>
                </a:solidFill>
              </a:rPr>
              <a:t>•  State representation mattered most</a:t>
            </a:r>
            <a:endParaRPr lang="en-US" sz="1320" dirty="0"/>
          </a:p>
        </p:txBody>
      </p:sp>
      <p:sp>
        <p:nvSpPr>
          <p:cNvPr id="8" name="Text 6"/>
          <p:cNvSpPr/>
          <p:nvPr/>
        </p:nvSpPr>
        <p:spPr>
          <a:xfrm>
            <a:off x="1005840" y="3374136"/>
            <a:ext cx="4297680" cy="320040"/>
          </a:xfrm>
          <a:prstGeom prst="rect">
            <a:avLst/>
          </a:prstGeom>
          <a:noFill/>
          <a:ln/>
        </p:spPr>
        <p:txBody>
          <a:bodyPr wrap="square" lIns="0" tIns="0" rIns="0" bIns="0" rtlCol="0" anchor="ctr"/>
          <a:lstStyle/>
          <a:p>
            <a:pPr indent="0" marL="0">
              <a:buNone/>
            </a:pPr>
            <a:r>
              <a:rPr lang="en-US" sz="1320" dirty="0">
                <a:solidFill>
                  <a:srgbClr val="334155"/>
                </a:solidFill>
              </a:rPr>
              <a:t>•  Clipping and GAE (λ = 0.95) stabilized learning</a:t>
            </a:r>
            <a:endParaRPr lang="en-US" sz="1320" dirty="0"/>
          </a:p>
        </p:txBody>
      </p:sp>
      <p:sp>
        <p:nvSpPr>
          <p:cNvPr id="9" name="Text 7"/>
          <p:cNvSpPr/>
          <p:nvPr/>
        </p:nvSpPr>
        <p:spPr>
          <a:xfrm>
            <a:off x="1005840" y="3986784"/>
            <a:ext cx="4297680" cy="320040"/>
          </a:xfrm>
          <a:prstGeom prst="rect">
            <a:avLst/>
          </a:prstGeom>
          <a:noFill/>
          <a:ln/>
        </p:spPr>
        <p:txBody>
          <a:bodyPr wrap="square" lIns="0" tIns="0" rIns="0" bIns="0" rtlCol="0" anchor="ctr"/>
          <a:lstStyle/>
          <a:p>
            <a:pPr indent="0" marL="0">
              <a:buNone/>
            </a:pPr>
            <a:r>
              <a:rPr lang="en-US" sz="1320" dirty="0">
                <a:solidFill>
                  <a:srgbClr val="334155"/>
                </a:solidFill>
              </a:rPr>
              <a:t>•  Fixing bugs made diagnostics trustworthy</a:t>
            </a:r>
            <a:endParaRPr lang="en-US" sz="1320" dirty="0"/>
          </a:p>
        </p:txBody>
      </p:sp>
      <p:sp>
        <p:nvSpPr>
          <p:cNvPr id="10" name="Shape 8"/>
          <p:cNvSpPr/>
          <p:nvPr/>
        </p:nvSpPr>
        <p:spPr>
          <a:xfrm>
            <a:off x="6263640" y="1325880"/>
            <a:ext cx="5166360" cy="4297680"/>
          </a:xfrm>
          <a:prstGeom prst="roundRect">
            <a:avLst>
              <a:gd name="adj" fmla="val 1064"/>
            </a:avLst>
          </a:prstGeom>
          <a:solidFill>
            <a:srgbClr val="F0FDFA"/>
          </a:solidFill>
          <a:ln w="12700">
            <a:solidFill>
              <a:srgbClr val="99F6E4"/>
            </a:solidFill>
            <a:prstDash val="solid"/>
          </a:ln>
        </p:spPr>
      </p:sp>
      <p:sp>
        <p:nvSpPr>
          <p:cNvPr id="11" name="Text 9"/>
          <p:cNvSpPr/>
          <p:nvPr/>
        </p:nvSpPr>
        <p:spPr>
          <a:xfrm>
            <a:off x="6537960" y="1600200"/>
            <a:ext cx="2011680" cy="274320"/>
          </a:xfrm>
          <a:prstGeom prst="rect">
            <a:avLst/>
          </a:prstGeom>
          <a:noFill/>
          <a:ln/>
        </p:spPr>
        <p:txBody>
          <a:bodyPr wrap="square" lIns="0" tIns="0" rIns="0" bIns="0" rtlCol="0" anchor="ctr"/>
          <a:lstStyle/>
          <a:p>
            <a:pPr indent="0" marL="0">
              <a:buNone/>
            </a:pPr>
            <a:r>
              <a:rPr lang="en-US" sz="1800" b="1" dirty="0">
                <a:solidFill>
                  <a:srgbClr val="115E59"/>
                </a:solidFill>
              </a:rPr>
              <a:t>NEXT STEPS</a:t>
            </a:r>
            <a:endParaRPr lang="en-US" sz="1800" dirty="0"/>
          </a:p>
        </p:txBody>
      </p:sp>
      <p:sp>
        <p:nvSpPr>
          <p:cNvPr id="12" name="Text 10"/>
          <p:cNvSpPr/>
          <p:nvPr/>
        </p:nvSpPr>
        <p:spPr>
          <a:xfrm>
            <a:off x="6537960" y="2148840"/>
            <a:ext cx="4434840" cy="292608"/>
          </a:xfrm>
          <a:prstGeom prst="rect">
            <a:avLst/>
          </a:prstGeom>
          <a:noFill/>
          <a:ln/>
        </p:spPr>
        <p:txBody>
          <a:bodyPr wrap="square" lIns="0" tIns="0" rIns="0" bIns="0" rtlCol="0" anchor="ctr"/>
          <a:lstStyle/>
          <a:p>
            <a:pPr indent="0" marL="0">
              <a:buNone/>
            </a:pPr>
            <a:r>
              <a:rPr lang="en-US" sz="1280" dirty="0">
                <a:solidFill>
                  <a:srgbClr val="334155"/>
                </a:solidFill>
              </a:rPr>
              <a:t>→  Multi-seed main runs with confidence intervals</a:t>
            </a:r>
            <a:endParaRPr lang="en-US" sz="1280" dirty="0"/>
          </a:p>
        </p:txBody>
      </p:sp>
      <p:sp>
        <p:nvSpPr>
          <p:cNvPr id="13" name="Text 11"/>
          <p:cNvSpPr/>
          <p:nvPr/>
        </p:nvSpPr>
        <p:spPr>
          <a:xfrm>
            <a:off x="6537960" y="2679192"/>
            <a:ext cx="4434840" cy="292608"/>
          </a:xfrm>
          <a:prstGeom prst="rect">
            <a:avLst/>
          </a:prstGeom>
          <a:noFill/>
          <a:ln/>
        </p:spPr>
        <p:txBody>
          <a:bodyPr wrap="square" lIns="0" tIns="0" rIns="0" bIns="0" rtlCol="0" anchor="ctr"/>
          <a:lstStyle/>
          <a:p>
            <a:pPr indent="0" marL="0">
              <a:buNone/>
            </a:pPr>
            <a:r>
              <a:rPr lang="en-US" sz="1280" dirty="0">
                <a:solidFill>
                  <a:srgbClr val="334155"/>
                </a:solidFill>
              </a:rPr>
              <a:t>→  Add sensor noise and disturbance tests</a:t>
            </a:r>
            <a:endParaRPr lang="en-US" sz="1280" dirty="0"/>
          </a:p>
        </p:txBody>
      </p:sp>
      <p:sp>
        <p:nvSpPr>
          <p:cNvPr id="14" name="Text 12"/>
          <p:cNvSpPr/>
          <p:nvPr/>
        </p:nvSpPr>
        <p:spPr>
          <a:xfrm>
            <a:off x="6537960" y="3209544"/>
            <a:ext cx="4434840" cy="292608"/>
          </a:xfrm>
          <a:prstGeom prst="rect">
            <a:avLst/>
          </a:prstGeom>
          <a:noFill/>
          <a:ln/>
        </p:spPr>
        <p:txBody>
          <a:bodyPr wrap="square" lIns="0" tIns="0" rIns="0" bIns="0" rtlCol="0" anchor="ctr"/>
          <a:lstStyle/>
          <a:p>
            <a:pPr indent="0" marL="0">
              <a:buNone/>
            </a:pPr>
            <a:r>
              <a:rPr lang="en-US" sz="1280" dirty="0">
                <a:solidFill>
                  <a:srgbClr val="334155"/>
                </a:solidFill>
              </a:rPr>
              <a:t>→  Compare with SAC or DDPG</a:t>
            </a:r>
            <a:endParaRPr lang="en-US" sz="1280" dirty="0"/>
          </a:p>
        </p:txBody>
      </p:sp>
      <p:sp>
        <p:nvSpPr>
          <p:cNvPr id="15" name="Text 13"/>
          <p:cNvSpPr/>
          <p:nvPr/>
        </p:nvSpPr>
        <p:spPr>
          <a:xfrm>
            <a:off x="6537960" y="3739896"/>
            <a:ext cx="4434840" cy="292608"/>
          </a:xfrm>
          <a:prstGeom prst="rect">
            <a:avLst/>
          </a:prstGeom>
          <a:noFill/>
          <a:ln/>
        </p:spPr>
        <p:txBody>
          <a:bodyPr wrap="square" lIns="0" tIns="0" rIns="0" bIns="0" rtlCol="0" anchor="ctr"/>
          <a:lstStyle/>
          <a:p>
            <a:pPr indent="0" marL="0">
              <a:buNone/>
            </a:pPr>
            <a:r>
              <a:rPr lang="en-US" sz="1280" dirty="0">
                <a:solidFill>
                  <a:srgbClr val="334155"/>
                </a:solidFill>
              </a:rPr>
              <a:t>→  Use vectorized/parallel environments</a:t>
            </a:r>
            <a:endParaRPr lang="en-US" sz="1280" dirty="0"/>
          </a:p>
        </p:txBody>
      </p:sp>
      <p:sp>
        <p:nvSpPr>
          <p:cNvPr id="16" name="Text 14"/>
          <p:cNvSpPr/>
          <p:nvPr/>
        </p:nvSpPr>
        <p:spPr>
          <a:xfrm>
            <a:off x="6537960" y="4270248"/>
            <a:ext cx="4434840" cy="292608"/>
          </a:xfrm>
          <a:prstGeom prst="rect">
            <a:avLst/>
          </a:prstGeom>
          <a:noFill/>
          <a:ln/>
        </p:spPr>
        <p:txBody>
          <a:bodyPr wrap="square" lIns="0" tIns="0" rIns="0" bIns="0" rtlCol="0" anchor="ctr"/>
          <a:lstStyle/>
          <a:p>
            <a:pPr indent="0" marL="0">
              <a:buNone/>
            </a:pPr>
            <a:r>
              <a:rPr lang="en-US" sz="1280" dirty="0">
                <a:solidFill>
                  <a:srgbClr val="334155"/>
                </a:solidFill>
              </a:rPr>
              <a:t>→  Move to MuJoCo/PyBullet multi-joint arms</a:t>
            </a:r>
            <a:endParaRPr lang="en-US" sz="128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384048"/>
            <a:ext cx="8138160" cy="411480"/>
          </a:xfrm>
          <a:prstGeom prst="rect">
            <a:avLst/>
          </a:prstGeom>
          <a:noFill/>
          <a:ln/>
        </p:spPr>
        <p:txBody>
          <a:bodyPr wrap="square" lIns="0" tIns="0" rIns="0" bIns="0" rtlCol="0" anchor="ctr"/>
          <a:lstStyle/>
          <a:p>
            <a:pPr indent="0" marL="0">
              <a:buNone/>
            </a:pPr>
            <a:r>
              <a:rPr lang="en-US" sz="2600" b="1" dirty="0">
                <a:solidFill>
                  <a:srgbClr val="0F172A"/>
                </a:solidFill>
                <a:latin typeface="Aptos Display" pitchFamily="34" charset="0"/>
                <a:ea typeface="Aptos Display" pitchFamily="34" charset="-122"/>
                <a:cs typeface="Aptos Display" pitchFamily="34" charset="-120"/>
              </a:rPr>
              <a:t>References and AI Use Disclosure</a:t>
            </a:r>
            <a:endParaRPr lang="en-US" sz="2600" dirty="0"/>
          </a:p>
        </p:txBody>
      </p:sp>
      <p:sp>
        <p:nvSpPr>
          <p:cNvPr id="3" name="Text 1"/>
          <p:cNvSpPr/>
          <p:nvPr/>
        </p:nvSpPr>
        <p:spPr>
          <a:xfrm>
            <a:off x="777240" y="1234440"/>
            <a:ext cx="2743200" cy="320040"/>
          </a:xfrm>
          <a:prstGeom prst="rect">
            <a:avLst/>
          </a:prstGeom>
          <a:noFill/>
          <a:ln/>
        </p:spPr>
        <p:txBody>
          <a:bodyPr wrap="square" lIns="0" tIns="0" rIns="0" bIns="0" rtlCol="0" anchor="ctr"/>
          <a:lstStyle/>
          <a:p>
            <a:pPr indent="0" marL="0">
              <a:buNone/>
            </a:pPr>
            <a:r>
              <a:rPr lang="en-US" sz="1800" b="1" dirty="0">
                <a:solidFill>
                  <a:srgbClr val="0F172A"/>
                </a:solidFill>
              </a:rPr>
              <a:t>Selected References</a:t>
            </a:r>
            <a:endParaRPr lang="en-US" sz="1800" dirty="0"/>
          </a:p>
        </p:txBody>
      </p:sp>
      <p:sp>
        <p:nvSpPr>
          <p:cNvPr id="4" name="Text 2"/>
          <p:cNvSpPr/>
          <p:nvPr/>
        </p:nvSpPr>
        <p:spPr>
          <a:xfrm>
            <a:off x="868680" y="1737360"/>
            <a:ext cx="7040880" cy="640080"/>
          </a:xfrm>
          <a:prstGeom prst="rect">
            <a:avLst/>
          </a:prstGeom>
          <a:noFill/>
          <a:ln/>
        </p:spPr>
        <p:txBody>
          <a:bodyPr wrap="square" lIns="254" tIns="254" rIns="254" bIns="254" rtlCol="0" anchor="ctr">
            <a:normAutofit/>
          </a:bodyPr>
          <a:lstStyle/>
          <a:p>
            <a:pPr indent="0" marL="0">
              <a:buNone/>
            </a:pPr>
            <a:r>
              <a:rPr lang="en-US" sz="1120" dirty="0">
                <a:solidFill>
                  <a:srgbClr val="334155"/>
                </a:solidFill>
              </a:rPr>
              <a:t>Schulman, J., Wolski, F., Dhariwal, P., Radford, A., &amp; Klimov, O. (2017). Proximal Policy Optimization Algorithms. arXiv:1707.06347.</a:t>
            </a:r>
            <a:endParaRPr lang="en-US" sz="1120" dirty="0"/>
          </a:p>
        </p:txBody>
      </p:sp>
      <p:sp>
        <p:nvSpPr>
          <p:cNvPr id="5" name="Text 3"/>
          <p:cNvSpPr/>
          <p:nvPr/>
        </p:nvSpPr>
        <p:spPr>
          <a:xfrm>
            <a:off x="868680" y="2578608"/>
            <a:ext cx="7040880" cy="640080"/>
          </a:xfrm>
          <a:prstGeom prst="rect">
            <a:avLst/>
          </a:prstGeom>
          <a:noFill/>
          <a:ln/>
        </p:spPr>
        <p:txBody>
          <a:bodyPr wrap="square" lIns="254" tIns="254" rIns="254" bIns="254" rtlCol="0" anchor="ctr">
            <a:normAutofit/>
          </a:bodyPr>
          <a:lstStyle/>
          <a:p>
            <a:pPr indent="0" marL="0">
              <a:buNone/>
            </a:pPr>
            <a:r>
              <a:rPr lang="en-US" sz="1120" dirty="0">
                <a:solidFill>
                  <a:srgbClr val="334155"/>
                </a:solidFill>
              </a:rPr>
              <a:t>Schulman, J., Moritz, P., Levine, S., Jordan, M. I., &amp; Abbeel, P. (2015). High-Dimensional Continuous Control Using Generalized Advantage Estimation. arXiv:1506.02438.</a:t>
            </a:r>
            <a:endParaRPr lang="en-US" sz="1120" dirty="0"/>
          </a:p>
        </p:txBody>
      </p:sp>
      <p:sp>
        <p:nvSpPr>
          <p:cNvPr id="6" name="Text 4"/>
          <p:cNvSpPr/>
          <p:nvPr/>
        </p:nvSpPr>
        <p:spPr>
          <a:xfrm>
            <a:off x="868680" y="3419856"/>
            <a:ext cx="7040880" cy="640080"/>
          </a:xfrm>
          <a:prstGeom prst="rect">
            <a:avLst/>
          </a:prstGeom>
          <a:noFill/>
          <a:ln/>
        </p:spPr>
        <p:txBody>
          <a:bodyPr wrap="square" lIns="254" tIns="254" rIns="254" bIns="254" rtlCol="0" anchor="ctr">
            <a:normAutofit/>
          </a:bodyPr>
          <a:lstStyle/>
          <a:p>
            <a:pPr indent="0" marL="0">
              <a:buNone/>
            </a:pPr>
            <a:r>
              <a:rPr lang="en-US" sz="1120" dirty="0">
                <a:solidFill>
                  <a:srgbClr val="334155"/>
                </a:solidFill>
              </a:rPr>
              <a:t>Kober, J., Bagnell, J. A., &amp; Peters, J. (2013). Reinforcement learning in robotics: A survey. The International Journal of Robotics Research, 32(11), 1238–1274.</a:t>
            </a:r>
            <a:endParaRPr lang="en-US" sz="1120" dirty="0"/>
          </a:p>
        </p:txBody>
      </p:sp>
      <p:sp>
        <p:nvSpPr>
          <p:cNvPr id="40" name="Text Ref 4"/>
          <p:cNvSpPr/>
          <p:nvPr/>
        </p:nvSpPr>
        <p:spPr>
          <a:xfrm>
            <a:off x="868680" y="4261104"/>
            <a:ext cx="7040880" cy="640080"/>
          </a:xfrm>
          <a:prstGeom prst="rect">
            <a:avLst/>
          </a:prstGeom>
          <a:noFill/>
          <a:ln/>
        </p:spPr>
        <p:txBody>
          <a:bodyPr wrap="square" lIns="254" tIns="254" rIns="254" bIns="254" rtlCol="0" anchor="ctr">
            <a:normAutofit/>
          </a:bodyPr>
          <a:lstStyle/>
          <a:p>
            <a:pPr indent="0" marL="0">
              <a:buNone/>
            </a:pPr>
            <a:r>
              <a:rPr lang="en-US" sz="1120" dirty="0">
                <a:solidFill>
                  <a:srgbClr val="334155"/>
                </a:solidFill>
              </a:rPr>
              <a:t>Pardo, F., Tavakoli, A., Levdik, V., &amp; Kormushev, P. (2018). Time limits in reinforcement learning. Proceedings of the 35th International Conference on Machine Learning, 80, 4045–4054.</a:t>
            </a:r>
            <a:endParaRPr lang="en-US" sz="1120" dirty="0"/>
          </a:p>
        </p:txBody>
      </p:sp>
      <p:sp>
        <p:nvSpPr>
          <p:cNvPr id="7" name="Shape 5"/>
          <p:cNvSpPr/>
          <p:nvPr/>
        </p:nvSpPr>
        <p:spPr>
          <a:xfrm>
            <a:off x="8183880" y="1325880"/>
            <a:ext cx="3200400" cy="3337560"/>
          </a:xfrm>
          <a:prstGeom prst="roundRect">
            <a:avLst>
              <a:gd name="adj" fmla="val 1429"/>
            </a:avLst>
          </a:prstGeom>
          <a:solidFill>
            <a:srgbClr val="F1F5F9"/>
          </a:solidFill>
          <a:ln w="12700">
            <a:solidFill>
              <a:srgbClr val="E2E8F0"/>
            </a:solidFill>
            <a:prstDash val="solid"/>
          </a:ln>
        </p:spPr>
      </p:sp>
      <p:sp>
        <p:nvSpPr>
          <p:cNvPr id="8" name="Text 6"/>
          <p:cNvSpPr/>
          <p:nvPr/>
        </p:nvSpPr>
        <p:spPr>
          <a:xfrm>
            <a:off x="8458200" y="1627632"/>
            <a:ext cx="2651760" cy="274320"/>
          </a:xfrm>
          <a:prstGeom prst="rect">
            <a:avLst/>
          </a:prstGeom>
          <a:noFill/>
          <a:ln/>
        </p:spPr>
        <p:txBody>
          <a:bodyPr wrap="square" lIns="0" tIns="0" rIns="0" bIns="0" rtlCol="0" anchor="ctr"/>
          <a:lstStyle/>
          <a:p>
            <a:pPr algn="ctr" indent="0" marL="0">
              <a:buNone/>
            </a:pPr>
            <a:r>
              <a:rPr lang="en-US" sz="1800" b="1" dirty="0">
                <a:solidFill>
                  <a:srgbClr val="0F172A"/>
                </a:solidFill>
              </a:rPr>
              <a:t>AI Use Disclosure</a:t>
            </a:r>
            <a:endParaRPr lang="en-US" sz="1800" dirty="0"/>
          </a:p>
        </p:txBody>
      </p:sp>
      <p:sp>
        <p:nvSpPr>
          <p:cNvPr id="9" name="Text 7"/>
          <p:cNvSpPr/>
          <p:nvPr/>
        </p:nvSpPr>
        <p:spPr>
          <a:xfrm>
            <a:off x="8458200" y="2148840"/>
            <a:ext cx="2651760" cy="1874520"/>
          </a:xfrm>
          <a:prstGeom prst="rect">
            <a:avLst/>
          </a:prstGeom>
          <a:noFill/>
          <a:ln/>
        </p:spPr>
        <p:txBody>
          <a:bodyPr wrap="square" lIns="381" tIns="381" rIns="381" bIns="381" rtlCol="0" anchor="ctr">
            <a:normAutofit/>
          </a:bodyPr>
          <a:lstStyle/>
          <a:p>
            <a:pPr indent="0" marL="0">
              <a:buNone/>
            </a:pPr>
            <a:r>
              <a:rPr lang="en-US" sz="1230" dirty="0">
                <a:solidFill>
                  <a:srgbClr val="334155"/>
                </a:solidFill>
              </a:rPr>
              <a:t>ChatGPT helped organize the project, review PPO/GAE concepts, and improve clarity. Claude (Anthropic) reviewed the code and results, identified the representation, truncation, and batch issues, helped build the evaluation, ablation, and demo scripts, and helped update these slides.</a:t>
            </a:r>
            <a:endParaRPr lang="en-US" sz="1230" dirty="0"/>
          </a:p>
          <a:p>
            <a:pPr indent="0" marL="0">
              <a:buNone/>
            </a:pPr>
            <a:endParaRPr lang="en-US" sz="1230" dirty="0"/>
          </a:p>
          <a:p>
            <a:pPr indent="0" marL="0">
              <a:buNone/>
            </a:pPr>
            <a:r>
              <a:rPr lang="en-US" sz="1230" dirty="0">
                <a:solidFill>
                  <a:srgbClr val="334155"/>
                </a:solidFill>
              </a:rPr>
              <a:t>I reviewed all code, reran training, and verified every number shown in this presentation.</a:t>
            </a:r>
            <a:endParaRPr lang="en-US" sz="1230" dirty="0"/>
          </a:p>
        </p:txBody>
      </p:sp>
      <p:sp>
        <p:nvSpPr>
          <p:cNvPr id="10" name="Text 8"/>
          <p:cNvSpPr/>
          <p:nvPr/>
        </p:nvSpPr>
        <p:spPr>
          <a:xfrm>
            <a:off x="8641080" y="5138928"/>
            <a:ext cx="2286000" cy="411480"/>
          </a:xfrm>
          <a:prstGeom prst="rect">
            <a:avLst/>
          </a:prstGeom>
          <a:noFill/>
          <a:ln/>
        </p:spPr>
        <p:txBody>
          <a:bodyPr wrap="square" lIns="0" tIns="0" rIns="0" bIns="0" rtlCol="0" anchor="ctr"/>
          <a:lstStyle/>
          <a:p>
            <a:pPr algn="ctr" indent="0" marL="0">
              <a:buNone/>
            </a:pPr>
            <a:r>
              <a:rPr lang="en-US" sz="2400" b="1" dirty="0">
                <a:solidFill>
                  <a:srgbClr val="0EA5A4"/>
                </a:solidFill>
              </a:rPr>
              <a:t>Thank you</a:t>
            </a:r>
            <a:endParaRPr lang="en-US" sz="2400" dirty="0"/>
          </a:p>
        </p:txBody>
      </p:sp>
      <p:sp>
        <p:nvSpPr>
          <p:cNvPr id="25" name="Slide Number Placeholder 0"/>
          <p:cNvSpPr>
            <a:spLocks noGrp="1"/>
          </p:cNvSpPr>
          <p:nvPr>
            <p:ph type="sldNum" sz="quarter" idx="4294967295"/>
          </p:nvPr>
        </p:nvSpPr>
        <p:spPr>
          <a:xfrm>
            <a:off x="11658600" y="6473952"/>
            <a:ext cx="8000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4A3B8"/>
                </a:solidFill>
              </a:defRPr>
            </a:lvl1pPr>
          </a:lstStyle>
          <a:p>
            <a:pPr algn="l"/>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University of the Cumberlands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PPO for Continuous-Control Robotics</dc:title>
  <dc:subject>PhDAI-830 Reinforcement Learning Project Part 2</dc:subject>
  <dc:creator>Subash Kambala</dc:creator>
  <cp:lastModifiedBy>Subash Kambala</cp:lastModifiedBy>
  <cp:revision>1</cp:revision>
  <dcterms:created xsi:type="dcterms:W3CDTF">2026-10-11T15:52:40Z</dcterms:created>
  <dcterms:modified xsi:type="dcterms:W3CDTF">2026-10-11T15:52:40Z</dcterms:modified>
</cp:coreProperties>
</file>